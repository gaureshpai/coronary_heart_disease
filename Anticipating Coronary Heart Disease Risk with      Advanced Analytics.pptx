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9" r:id="rId5"/>
    <p:sldId id="280" r:id="rId6"/>
    <p:sldId id="281" r:id="rId7"/>
    <p:sldId id="328" r:id="rId8"/>
    <p:sldId id="259" r:id="rId9"/>
    <p:sldId id="260" r:id="rId10"/>
    <p:sldId id="261" r:id="rId11"/>
    <p:sldId id="262" r:id="rId12"/>
    <p:sldId id="263" r:id="rId13"/>
    <p:sldId id="264" r:id="rId14"/>
    <p:sldId id="265" r:id="rId15"/>
    <p:sldId id="266" r:id="rId16"/>
    <p:sldId id="268" r:id="rId17"/>
    <p:sldId id="267" r:id="rId18"/>
    <p:sldId id="269" r:id="rId19"/>
    <p:sldId id="270" r:id="rId20"/>
    <p:sldId id="271" r:id="rId21"/>
    <p:sldId id="272" r:id="rId22"/>
    <p:sldId id="273" r:id="rId23"/>
    <p:sldId id="274" r:id="rId24"/>
    <p:sldId id="275" r:id="rId25"/>
    <p:sldId id="276" r:id="rId26"/>
    <p:sldId id="27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220" autoAdjust="0"/>
  </p:normalViewPr>
  <p:slideViewPr>
    <p:cSldViewPr snapToGrid="0">
      <p:cViewPr>
        <p:scale>
          <a:sx n="81" d="100"/>
          <a:sy n="81" d="100"/>
        </p:scale>
        <p:origin x="108"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F498-8B01-A932-CA55-A452D3BFF5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C8DEF8-D43F-07DE-2CF4-C65A600E1A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19D683-D7E1-45A9-D05E-C80ADA74DE60}"/>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6FFF51C3-339E-DB4F-C33C-E1A2BD2106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46C95-053A-D1BD-F943-40F97833D324}"/>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019694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E53D-FF33-760A-FE27-D70A57F69B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FE8DEE-E369-633D-6E4B-16520134E7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B5C7B-3FBC-8B3A-FDD8-952683EF6189}"/>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DA52AE35-5B4A-7E5C-4062-BB753036D1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42B84-0BF0-B3C2-A408-A10F396F5CD4}"/>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36557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EC94-DC8C-D0E1-E32D-210C90A665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0C2C68-8BAD-A2A6-E051-721B5FB3E7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1C4AFD-DE85-56AB-664D-DED28394EDFC}"/>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1960E089-44FD-4E5E-B060-39D1AB70D7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99F0A6-C13F-18CD-E302-45F3391F22F7}"/>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937748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6AD2-01F6-9912-348D-346E4A80ED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5DD41A-BC8B-101A-04F8-C50074ADAE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C7B3F3-FC9A-F23E-FBEC-DB2199D03C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9E960B-9FE2-A86D-271E-852E2A75CAFC}"/>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6" name="Footer Placeholder 5">
            <a:extLst>
              <a:ext uri="{FF2B5EF4-FFF2-40B4-BE49-F238E27FC236}">
                <a16:creationId xmlns:a16="http://schemas.microsoft.com/office/drawing/2014/main" id="{C1DABE3F-7005-91A1-F672-6E5CB8B20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98B31C-7174-B2EC-9CB4-C4D6992CE137}"/>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816005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E9B4-A379-E32D-5BBD-B7CC6098F6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9F227D-7857-103F-C6CD-DFAD6FABA3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B1B4BC-0F71-0350-7F44-5CF0372DF7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06CBC1-FFD9-7096-85CB-FED558A03E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F2B220-78B7-F2CD-52C5-3DF854B1CB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AD9D2C-9381-E971-1EFB-6CAF384FBBCC}"/>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8" name="Footer Placeholder 7">
            <a:extLst>
              <a:ext uri="{FF2B5EF4-FFF2-40B4-BE49-F238E27FC236}">
                <a16:creationId xmlns:a16="http://schemas.microsoft.com/office/drawing/2014/main" id="{CB42C979-585E-337B-8572-E7D8384FD2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5C697F-9E25-4553-9627-3BC34070BF26}"/>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194965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E4BD-D4DE-39B9-E7A4-F89270E5FA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88FD74-15BB-43D8-ABD1-EF5A26B4E9EE}"/>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4" name="Footer Placeholder 3">
            <a:extLst>
              <a:ext uri="{FF2B5EF4-FFF2-40B4-BE49-F238E27FC236}">
                <a16:creationId xmlns:a16="http://schemas.microsoft.com/office/drawing/2014/main" id="{12DD470B-93B5-6A46-2C1E-092A01D07B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23A90B-F112-28CA-0F97-BB8D1CBE2772}"/>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2239460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B4B611-B427-897E-7DEC-354B314C962C}"/>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3" name="Footer Placeholder 2">
            <a:extLst>
              <a:ext uri="{FF2B5EF4-FFF2-40B4-BE49-F238E27FC236}">
                <a16:creationId xmlns:a16="http://schemas.microsoft.com/office/drawing/2014/main" id="{9923E8C2-9E6F-6ADB-E1F7-9528C2214A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F45A52-CFBD-3226-67CD-04EA0F7FCEF6}"/>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484504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2A58-E107-5A23-97FC-3CCEB333D4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D4DF55-1305-CB8A-AB3B-594D1C520B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EA995C-4BEC-0D15-8AD7-9BFE2F0683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AA408D-DDF6-ACB2-715A-0DFBEDD69D52}"/>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6" name="Footer Placeholder 5">
            <a:extLst>
              <a:ext uri="{FF2B5EF4-FFF2-40B4-BE49-F238E27FC236}">
                <a16:creationId xmlns:a16="http://schemas.microsoft.com/office/drawing/2014/main" id="{E7197297-C251-6DF6-B3C2-0DB814C74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0F2419-F09D-1A28-5E09-5C4B66E296A5}"/>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957676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EC33F-1A99-01BF-A3E8-229339B71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F6A866-207B-9CDB-155F-5ED29CA8A7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2E05B5-7332-EC8A-73ED-FBAB3EE7B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190A2-AFFC-ED32-83C5-A36393119493}"/>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6" name="Footer Placeholder 5">
            <a:extLst>
              <a:ext uri="{FF2B5EF4-FFF2-40B4-BE49-F238E27FC236}">
                <a16:creationId xmlns:a16="http://schemas.microsoft.com/office/drawing/2014/main" id="{17DF77C5-092D-B7DE-DC91-8C87A443D4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EA26C3-0F23-34C5-E982-5A60F3FD4673}"/>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734736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09FD-33B1-3FEC-56E4-EBDB664B72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CF38A3-25AD-5217-E440-0C6490CA46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9A2FE2-B376-7190-8E5A-C7C6AC1C4410}"/>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CB14FEAD-17D3-41E6-E279-43C3E773AB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64C38C-C4EF-BBEC-633F-5697A1D9F0B5}"/>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4293048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C01439-4DEA-A93A-A06A-DE82E7F0F1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1CCF26-8202-E9E4-55F4-1EF95F38E0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C5D92-3F54-16C3-1534-E6C9B86C1CD5}"/>
              </a:ext>
            </a:extLst>
          </p:cNvPr>
          <p:cNvSpPr>
            <a:spLocks noGrp="1"/>
          </p:cNvSpPr>
          <p:nvPr>
            <p:ph type="dt" sz="half" idx="10"/>
          </p:nvPr>
        </p:nvSpPr>
        <p:spPr/>
        <p:txBody>
          <a:body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E7A2972D-069C-F78F-EA1E-C4A4FD4773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B9AD81-9697-93F8-B0AB-77D91AD39662}"/>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221918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B7673F-3F57-4793-08DE-85B3BDE99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AFA0D2-B203-8AD9-7721-A21AB4C1DE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DAD9E6-CAB0-7CCF-33FD-127B7D85A1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3B65F-F92D-4C5A-9088-DC227D63FACF}" type="datetimeFigureOut">
              <a:rPr lang="en-IN" smtClean="0"/>
              <a:t>02-12-2025</a:t>
            </a:fld>
            <a:endParaRPr lang="en-IN"/>
          </a:p>
        </p:txBody>
      </p:sp>
      <p:sp>
        <p:nvSpPr>
          <p:cNvPr id="5" name="Footer Placeholder 4">
            <a:extLst>
              <a:ext uri="{FF2B5EF4-FFF2-40B4-BE49-F238E27FC236}">
                <a16:creationId xmlns:a16="http://schemas.microsoft.com/office/drawing/2014/main" id="{3BB5F5CD-4934-C216-9B1D-529DEFC9F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CABB37-63DB-60BB-9754-64DBF1DC02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A7AA6-CFB2-49C3-AD20-C9B5C9E611ED}" type="slidenum">
              <a:rPr lang="en-IN" smtClean="0"/>
              <a:t>‹#›</a:t>
            </a:fld>
            <a:endParaRPr lang="en-IN"/>
          </a:p>
        </p:txBody>
      </p:sp>
    </p:spTree>
    <p:extLst>
      <p:ext uri="{BB962C8B-B14F-4D97-AF65-F5344CB8AC3E}">
        <p14:creationId xmlns:p14="http://schemas.microsoft.com/office/powerpoint/2010/main" val="1236066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129F2-9571-BB75-6BCC-65F809DBDE31}"/>
              </a:ext>
            </a:extLst>
          </p:cNvPr>
          <p:cNvSpPr>
            <a:spLocks noGrp="1"/>
          </p:cNvSpPr>
          <p:nvPr>
            <p:ph type="ctrTitle"/>
          </p:nvPr>
        </p:nvSpPr>
        <p:spPr/>
        <p:txBody>
          <a:bodyPr>
            <a:normAutofit fontScale="90000"/>
          </a:bodyPr>
          <a:lstStyle/>
          <a:p>
            <a:r>
              <a:rPr lang="en-US" dirty="0"/>
              <a:t>prediction Coronary Heart Disease Risk using machine learning Techniques</a:t>
            </a:r>
            <a:endParaRPr lang="en-IN" dirty="0"/>
          </a:p>
        </p:txBody>
      </p:sp>
      <p:sp>
        <p:nvSpPr>
          <p:cNvPr id="3" name="Subtitle 2">
            <a:extLst>
              <a:ext uri="{FF2B5EF4-FFF2-40B4-BE49-F238E27FC236}">
                <a16:creationId xmlns:a16="http://schemas.microsoft.com/office/drawing/2014/main" id="{CFC545D9-DDF2-64AB-C6E1-500FA98931BB}"/>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626283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B8D1-714A-A064-CA7B-B6640D3FE56D}"/>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7BA0614-62DF-9C0E-CBEB-0E2C2FE5B8C8}"/>
              </a:ext>
            </a:extLst>
          </p:cNvPr>
          <p:cNvSpPr>
            <a:spLocks noGrp="1"/>
          </p:cNvSpPr>
          <p:nvPr>
            <p:ph idx="1"/>
          </p:nvPr>
        </p:nvSpPr>
        <p:spPr/>
        <p:txBody>
          <a:bodyPr/>
          <a:lstStyle/>
          <a:p>
            <a:pPr algn="just"/>
            <a:r>
              <a:rPr lang="en-IN" sz="2000" dirty="0">
                <a:effectLst/>
                <a:latin typeface="Times New Roman" panose="02020603050405020304" pitchFamily="18" charset="0"/>
                <a:ea typeface="Calibri" panose="020F0502020204030204" pitchFamily="34" charset="0"/>
                <a:cs typeface="Times New Roman" panose="02020603050405020304" pitchFamily="18" charset="0"/>
              </a:rPr>
              <a:t>Heart disease is one of the most significant causes of mortality in the world today. Prediction of cardiovascular disease is a critical challenge in the area of clinical data analysis. The diagnosis of heart disease through traditional medical history has been considered as not reliable in many aspects. The health care industry produces a huge amount of data and these data is not always made use to the full extent and is often underutilized. Using this huge amount of data, a disease can be detected, predicted or even cured. In this project, we have developed a Machine Learning based diagnosis system for heart disease prediction by taking the help of medical data such as Blood pressure, cholesterol, body mass index, smoking habit, heart rate etc as input and then these features are modelled for prediction. This model can then be used to predict future medical data. Here we perform the comparative analysis of the algorithms like decision tree, Naïve Bayes, Logistic Regression,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KNearest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Neighbors</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.Then the accuracy of the model using each of the algorithms will be calculated and the one having the best accuracy will be taken as the model of predicting the heart disease and finally a GUI will be designed to predict the disease.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9986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A10D-DA14-FFDA-B928-BECBE62C7902}"/>
              </a:ext>
            </a:extLst>
          </p:cNvPr>
          <p:cNvSpPr>
            <a:spLocks noGrp="1"/>
          </p:cNvSpPr>
          <p:nvPr>
            <p:ph type="title"/>
          </p:nvPr>
        </p:nvSpPr>
        <p:spPr/>
        <p:txBody>
          <a:bodyPr>
            <a:normAutofit/>
          </a:bodyPr>
          <a:lstStyle/>
          <a:p>
            <a:r>
              <a:rPr lang="en-US" sz="4000" dirty="0">
                <a:latin typeface="Calibri" panose="020F0502020204030204" pitchFamily="34" charset="0"/>
                <a:cs typeface="Times New Roman" panose="02020603050405020304" pitchFamily="18" charset="0"/>
              </a:rPr>
              <a:t>O</a:t>
            </a:r>
            <a:r>
              <a:rPr lang="en-IN" sz="4000" dirty="0" err="1">
                <a:latin typeface="Calibri" panose="020F0502020204030204" pitchFamily="34" charset="0"/>
                <a:cs typeface="Times New Roman" panose="02020603050405020304" pitchFamily="18" charset="0"/>
              </a:rPr>
              <a:t>bjective</a:t>
            </a:r>
            <a:endParaRPr lang="en-IN" sz="4000" dirty="0"/>
          </a:p>
        </p:txBody>
      </p:sp>
      <p:sp>
        <p:nvSpPr>
          <p:cNvPr id="3" name="Content Placeholder 2">
            <a:extLst>
              <a:ext uri="{FF2B5EF4-FFF2-40B4-BE49-F238E27FC236}">
                <a16:creationId xmlns:a16="http://schemas.microsoft.com/office/drawing/2014/main" id="{27371B5B-2152-0053-A4D6-7EB981151736}"/>
              </a:ext>
            </a:extLst>
          </p:cNvPr>
          <p:cNvSpPr>
            <a:spLocks noGrp="1"/>
          </p:cNvSpPr>
          <p:nvPr>
            <p:ph idx="1"/>
          </p:nvPr>
        </p:nvSpPr>
        <p:spPr/>
        <p:txBody>
          <a:bodyPr/>
          <a:lstStyle/>
          <a:p>
            <a:pPr algn="just"/>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this project   the task is to predict whether a person is going to have coronary heart disease or not in upcoming 10 years by using 6 popular machine learning algorithms. </a:t>
            </a:r>
          </a:p>
          <a:p>
            <a:pPr algn="just"/>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These are logistic regression, K Nearest neighbours, Naïve bayes , Decision tree ,Support vector machine and random Forest algorithm. </a:t>
            </a:r>
          </a:p>
          <a:p>
            <a:pPr algn="just"/>
            <a:r>
              <a:rPr lang="en-IN" sz="2000" dirty="0">
                <a:latin typeface="Times New Roman" panose="02020603050405020304" pitchFamily="18" charset="0"/>
                <a:ea typeface="Calibri" panose="020F0502020204030204" pitchFamily="34" charset="0"/>
                <a:cs typeface="Times New Roman" panose="02020603050405020304" pitchFamily="18" charset="0"/>
              </a:rPr>
              <a:t>A</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fter implementing these algorithms, the best model will be found for heart disease prediction. A graphical user interface will be designed for to make prediction for new dataset.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75851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2215B-FBB9-5A77-F130-3AEE17A02CBF}"/>
              </a:ext>
            </a:extLst>
          </p:cNvPr>
          <p:cNvSpPr>
            <a:spLocks noGrp="1"/>
          </p:cNvSpPr>
          <p:nvPr>
            <p:ph type="title"/>
          </p:nvPr>
        </p:nvSpPr>
        <p:spPr/>
        <p:txBody>
          <a:bodyPr/>
          <a:lstStyle/>
          <a:p>
            <a:r>
              <a:rPr lang="en-US" dirty="0"/>
              <a:t>Coronary Heart Disease</a:t>
            </a:r>
            <a:endParaRPr lang="en-IN" dirty="0"/>
          </a:p>
        </p:txBody>
      </p:sp>
      <p:sp>
        <p:nvSpPr>
          <p:cNvPr id="3" name="Content Placeholder 2">
            <a:extLst>
              <a:ext uri="{FF2B5EF4-FFF2-40B4-BE49-F238E27FC236}">
                <a16:creationId xmlns:a16="http://schemas.microsoft.com/office/drawing/2014/main" id="{0C7E1B44-A824-8114-EC4C-DA07AF048CE0}"/>
              </a:ext>
            </a:extLst>
          </p:cNvPr>
          <p:cNvSpPr>
            <a:spLocks noGrp="1"/>
          </p:cNvSpPr>
          <p:nvPr>
            <p:ph idx="1"/>
          </p:nvPr>
        </p:nvSpPr>
        <p:spPr>
          <a:xfrm>
            <a:off x="838200" y="1491343"/>
            <a:ext cx="10515600" cy="4685620"/>
          </a:xfrm>
        </p:spPr>
        <p:txBody>
          <a:bodyPr>
            <a:normAutofit fontScale="85000" lnSpcReduction="20000"/>
          </a:bodyPr>
          <a:lstStyle/>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Also known as coronary artery disease (CAD), is a condition where  the</a:t>
            </a:r>
          </a:p>
          <a:p>
            <a:r>
              <a:rPr lang="en-US" dirty="0">
                <a:latin typeface="Tahoma" panose="020B0604030504040204" pitchFamily="34" charset="0"/>
                <a:ea typeface="Tahoma" panose="020B0604030504040204" pitchFamily="34" charset="0"/>
                <a:cs typeface="Tahoma" panose="020B0604030504040204" pitchFamily="34" charset="0"/>
              </a:rPr>
              <a:t>    coronary arteries (the blood vessels that supply oxygen rich blood to the heart   vessels) becomes narrowed/blocked due to the buildup of plaque (a mixture of fat, cholesterol, and other substances).</a:t>
            </a:r>
          </a:p>
          <a:p>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An artery is a type of blood vessel that carries oxygen-rich blood away from the heart to all parts of the body — such as your brain, kidneys, muscles, and other organs.</a:t>
            </a:r>
            <a:br>
              <a:rPr lang="en-IN" dirty="0">
                <a:latin typeface="Tahoma" panose="020B0604030504040204" pitchFamily="34" charset="0"/>
                <a:ea typeface="Tahoma" panose="020B0604030504040204" pitchFamily="34" charset="0"/>
                <a:cs typeface="Tahoma" panose="020B0604030504040204" pitchFamily="34" charset="0"/>
              </a:rPr>
            </a:br>
            <a:endParaRPr lang="en-IN"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Imagine a water pipe that carries clean water to your house.</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If dirt or grease builds up inside the pipe, the water can’t flow smoothly — and pressure builds up.</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Similarly, when cholesterol and fat block an artery, your heart has to work harder to push blood, increasing the risk of heart problems.</a:t>
            </a:r>
          </a:p>
          <a:p>
            <a:endParaRPr lang="en-IN" dirty="0"/>
          </a:p>
        </p:txBody>
      </p:sp>
    </p:spTree>
    <p:extLst>
      <p:ext uri="{BB962C8B-B14F-4D97-AF65-F5344CB8AC3E}">
        <p14:creationId xmlns:p14="http://schemas.microsoft.com/office/powerpoint/2010/main" val="2892790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020D7-3E06-3BEE-31DA-7C5790E062FC}"/>
              </a:ext>
            </a:extLst>
          </p:cNvPr>
          <p:cNvSpPr>
            <a:spLocks noGrp="1"/>
          </p:cNvSpPr>
          <p:nvPr>
            <p:ph type="title"/>
          </p:nvPr>
        </p:nvSpPr>
        <p:spPr/>
        <p:txBody>
          <a:bodyPr/>
          <a:lstStyle/>
          <a:p>
            <a:r>
              <a:rPr lang="en-US" b="1" dirty="0"/>
              <a:t>HOW IT DEVELOPS????</a:t>
            </a:r>
            <a:endParaRPr lang="en-IN" dirty="0"/>
          </a:p>
        </p:txBody>
      </p:sp>
      <p:sp>
        <p:nvSpPr>
          <p:cNvPr id="3" name="Content Placeholder 2">
            <a:extLst>
              <a:ext uri="{FF2B5EF4-FFF2-40B4-BE49-F238E27FC236}">
                <a16:creationId xmlns:a16="http://schemas.microsoft.com/office/drawing/2014/main" id="{280138E4-A9BD-19AA-9262-940C5AD00830}"/>
              </a:ext>
            </a:extLst>
          </p:cNvPr>
          <p:cNvSpPr>
            <a:spLocks noGrp="1"/>
          </p:cNvSpPr>
          <p:nvPr>
            <p:ph idx="1"/>
          </p:nvPr>
        </p:nvSpPr>
        <p:spPr/>
        <p:txBody>
          <a:bodyPr>
            <a:normAutofit/>
          </a:bodyPr>
          <a:lstStyle/>
          <a:p>
            <a:pPr lvl="0"/>
            <a:r>
              <a:rPr lang="en-IN" dirty="0">
                <a:latin typeface="Tahoma" panose="020B0604030504040204" pitchFamily="34" charset="0"/>
                <a:ea typeface="Tahoma" panose="020B0604030504040204" pitchFamily="34" charset="0"/>
                <a:cs typeface="Tahoma" panose="020B0604030504040204" pitchFamily="34" charset="0"/>
              </a:rPr>
              <a:t>Plaque formation (Atherosclerosis):</a:t>
            </a:r>
            <a:br>
              <a:rPr lang="en-IN" dirty="0">
                <a:latin typeface="Tahoma" panose="020B0604030504040204" pitchFamily="34" charset="0"/>
                <a:ea typeface="Tahoma" panose="020B0604030504040204" pitchFamily="34" charset="0"/>
                <a:cs typeface="Tahoma" panose="020B0604030504040204" pitchFamily="34" charset="0"/>
              </a:rPr>
            </a:br>
            <a:r>
              <a:rPr lang="en-IN" dirty="0">
                <a:latin typeface="Tahoma" panose="020B0604030504040204" pitchFamily="34" charset="0"/>
                <a:ea typeface="Tahoma" panose="020B0604030504040204" pitchFamily="34" charset="0"/>
                <a:cs typeface="Tahoma" panose="020B0604030504040204" pitchFamily="34" charset="0"/>
              </a:rPr>
              <a:t>Cholesterol and fatty substances gradually build up on the inner walls of the coronary arteries.</a:t>
            </a:r>
          </a:p>
          <a:p>
            <a:pPr lvl="0"/>
            <a:r>
              <a:rPr lang="en-IN" dirty="0">
                <a:latin typeface="Tahoma" panose="020B0604030504040204" pitchFamily="34" charset="0"/>
                <a:ea typeface="Tahoma" panose="020B0604030504040204" pitchFamily="34" charset="0"/>
                <a:cs typeface="Tahoma" panose="020B0604030504040204" pitchFamily="34" charset="0"/>
              </a:rPr>
              <a:t>Narrowing of arteries:</a:t>
            </a:r>
            <a:br>
              <a:rPr lang="en-IN" dirty="0">
                <a:latin typeface="Tahoma" panose="020B0604030504040204" pitchFamily="34" charset="0"/>
                <a:ea typeface="Tahoma" panose="020B0604030504040204" pitchFamily="34" charset="0"/>
                <a:cs typeface="Tahoma" panose="020B0604030504040204" pitchFamily="34" charset="0"/>
              </a:rPr>
            </a:br>
            <a:r>
              <a:rPr lang="en-IN" dirty="0">
                <a:latin typeface="Tahoma" panose="020B0604030504040204" pitchFamily="34" charset="0"/>
                <a:ea typeface="Tahoma" panose="020B0604030504040204" pitchFamily="34" charset="0"/>
                <a:cs typeface="Tahoma" panose="020B0604030504040204" pitchFamily="34" charset="0"/>
              </a:rPr>
              <a:t>The buildup makes the arteries stiff and narrow, reducing blood flow to the heart.</a:t>
            </a:r>
          </a:p>
          <a:p>
            <a:pPr lvl="0"/>
            <a:r>
              <a:rPr lang="en-IN" dirty="0">
                <a:latin typeface="Tahoma" panose="020B0604030504040204" pitchFamily="34" charset="0"/>
                <a:ea typeface="Tahoma" panose="020B0604030504040204" pitchFamily="34" charset="0"/>
                <a:cs typeface="Tahoma" panose="020B0604030504040204" pitchFamily="34" charset="0"/>
              </a:rPr>
              <a:t>Reduced oxygen supply:</a:t>
            </a:r>
            <a:br>
              <a:rPr lang="en-IN" dirty="0">
                <a:latin typeface="Tahoma" panose="020B0604030504040204" pitchFamily="34" charset="0"/>
                <a:ea typeface="Tahoma" panose="020B0604030504040204" pitchFamily="34" charset="0"/>
                <a:cs typeface="Tahoma" panose="020B0604030504040204" pitchFamily="34" charset="0"/>
              </a:rPr>
            </a:br>
            <a:r>
              <a:rPr lang="en-IN" dirty="0">
                <a:latin typeface="Tahoma" panose="020B0604030504040204" pitchFamily="34" charset="0"/>
                <a:ea typeface="Tahoma" panose="020B0604030504040204" pitchFamily="34" charset="0"/>
                <a:cs typeface="Tahoma" panose="020B0604030504040204" pitchFamily="34" charset="0"/>
              </a:rPr>
              <a:t>When the heart doesn’t get enough oxygen, it can cause chest pain (angina) or even a heart attack (myocardial infarction) if a plaque ruptures and completely blocks blood flow.</a:t>
            </a:r>
          </a:p>
          <a:p>
            <a:endParaRPr lang="en-IN" dirty="0"/>
          </a:p>
        </p:txBody>
      </p:sp>
    </p:spTree>
    <p:extLst>
      <p:ext uri="{BB962C8B-B14F-4D97-AF65-F5344CB8AC3E}">
        <p14:creationId xmlns:p14="http://schemas.microsoft.com/office/powerpoint/2010/main" val="3333845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CC1C-A9D0-E1F0-1FBC-BB79DF883CAE}"/>
              </a:ext>
            </a:extLst>
          </p:cNvPr>
          <p:cNvSpPr>
            <a:spLocks noGrp="1"/>
          </p:cNvSpPr>
          <p:nvPr>
            <p:ph type="title"/>
          </p:nvPr>
        </p:nvSpPr>
        <p:spPr/>
        <p:txBody>
          <a:bodyPr/>
          <a:lstStyle/>
          <a:p>
            <a:r>
              <a:rPr lang="en-IN" b="1" kern="100" dirty="0">
                <a:latin typeface="Calibri" panose="020F0502020204030204" pitchFamily="34" charset="0"/>
                <a:ea typeface="Calibri" panose="020F0502020204030204" pitchFamily="34" charset="0"/>
                <a:cs typeface="Times New Roman" panose="02020603050405020304" pitchFamily="18" charset="0"/>
              </a:rPr>
              <a:t>Major Symptoms:</a:t>
            </a:r>
            <a:br>
              <a:rPr lang="en-IN" kern="1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6582CBF-83E4-BC7A-9D39-AC6A7E2479F3}"/>
              </a:ext>
            </a:extLst>
          </p:cNvPr>
          <p:cNvSpPr>
            <a:spLocks noGrp="1"/>
          </p:cNvSpPr>
          <p:nvPr>
            <p:ph idx="1"/>
          </p:nvPr>
        </p:nvSpPr>
        <p:spPr/>
        <p:txBody>
          <a:bodyPr/>
          <a:lstStyle/>
          <a:p>
            <a:pPr lvl="0" algn="just">
              <a:lnSpc>
                <a:spcPct val="107000"/>
              </a:lnSpc>
              <a:spcAft>
                <a:spcPts val="800"/>
              </a:spcAft>
              <a:buSzPts val="1000"/>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a:t>
            </a:r>
            <a:r>
              <a:rPr lang="en-IN" b="1" kern="100" dirty="0">
                <a:latin typeface="Tahoma" panose="020B0604030504040204" pitchFamily="34" charset="0"/>
                <a:ea typeface="Tahoma" panose="020B0604030504040204" pitchFamily="34" charset="0"/>
                <a:cs typeface="Tahoma" panose="020B0604030504040204" pitchFamily="34" charset="0"/>
              </a:rPr>
              <a:t>Chest pain or pressure (especially during activity)</a:t>
            </a:r>
            <a:br>
              <a:rPr lang="en-IN" b="1" kern="100" dirty="0">
                <a:latin typeface="Tahoma" panose="020B0604030504040204" pitchFamily="34" charset="0"/>
                <a:ea typeface="Tahoma" panose="020B0604030504040204" pitchFamily="34" charset="0"/>
                <a:cs typeface="Tahoma" panose="020B0604030504040204" pitchFamily="34" charset="0"/>
              </a:rPr>
            </a:br>
            <a:r>
              <a:rPr lang="en-IN" b="1" kern="100" dirty="0">
                <a:latin typeface="Tahoma" panose="020B0604030504040204" pitchFamily="34" charset="0"/>
                <a:ea typeface="Tahoma" panose="020B0604030504040204" pitchFamily="34" charset="0"/>
                <a:cs typeface="Tahoma" panose="020B0604030504040204" pitchFamily="34" charset="0"/>
              </a:rPr>
              <a:t>-Shortness of breath</a:t>
            </a:r>
          </a:p>
          <a:p>
            <a:pPr lvl="0" algn="just">
              <a:lnSpc>
                <a:spcPct val="107000"/>
              </a:lnSpc>
              <a:spcAft>
                <a:spcPts val="800"/>
              </a:spcAft>
              <a:buSzPts val="1000"/>
              <a:tabLst>
                <a:tab pos="457200" algn="l"/>
              </a:tabLst>
            </a:pPr>
            <a:r>
              <a:rPr lang="en-IN" b="1" kern="100" dirty="0">
                <a:latin typeface="Tahoma" panose="020B0604030504040204" pitchFamily="34" charset="0"/>
                <a:ea typeface="Tahoma" panose="020B0604030504040204" pitchFamily="34" charset="0"/>
                <a:cs typeface="Tahoma" panose="020B0604030504040204" pitchFamily="34" charset="0"/>
              </a:rPr>
              <a:t>-Fatigue</a:t>
            </a:r>
          </a:p>
          <a:p>
            <a:pPr lvl="0" algn="just">
              <a:lnSpc>
                <a:spcPct val="107000"/>
              </a:lnSpc>
              <a:spcAft>
                <a:spcPts val="800"/>
              </a:spcAft>
              <a:buSzPts val="1000"/>
              <a:tabLst>
                <a:tab pos="457200" algn="l"/>
              </a:tabLst>
            </a:pPr>
            <a:r>
              <a:rPr lang="en-IN" b="1" kern="100" dirty="0">
                <a:latin typeface="Tahoma" panose="020B0604030504040204" pitchFamily="34" charset="0"/>
                <a:ea typeface="Tahoma" panose="020B0604030504040204" pitchFamily="34" charset="0"/>
                <a:cs typeface="Tahoma" panose="020B0604030504040204" pitchFamily="34" charset="0"/>
              </a:rPr>
              <a:t>-Dizziness</a:t>
            </a:r>
          </a:p>
          <a:p>
            <a:r>
              <a:rPr lang="en-IN" b="1" kern="100" dirty="0">
                <a:latin typeface="Tahoma" panose="020B0604030504040204" pitchFamily="34" charset="0"/>
                <a:ea typeface="Tahoma" panose="020B0604030504040204" pitchFamily="34" charset="0"/>
                <a:cs typeface="Tahoma" panose="020B0604030504040204" pitchFamily="34" charset="0"/>
              </a:rPr>
              <a:t>-</a:t>
            </a:r>
            <a:r>
              <a:rPr lang="en-IN" b="1" dirty="0">
                <a:latin typeface="Tahoma" panose="020B0604030504040204" pitchFamily="34" charset="0"/>
                <a:ea typeface="Tahoma" panose="020B0604030504040204" pitchFamily="34" charset="0"/>
                <a:cs typeface="Tahoma" panose="020B0604030504040204" pitchFamily="34" charset="0"/>
              </a:rPr>
              <a:t>Heart attack (in severe cases)</a:t>
            </a:r>
          </a:p>
          <a:p>
            <a:endParaRPr lang="en-IN" dirty="0"/>
          </a:p>
        </p:txBody>
      </p:sp>
    </p:spTree>
    <p:extLst>
      <p:ext uri="{BB962C8B-B14F-4D97-AF65-F5344CB8AC3E}">
        <p14:creationId xmlns:p14="http://schemas.microsoft.com/office/powerpoint/2010/main" val="3051675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1F7A12-8154-19D6-B1CF-120C061B6863}"/>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defPPr>
              <a:defRPr lang="en-US"/>
            </a:defPPr>
            <a:lvl1pPr marL="0" algn="l" defTabSz="914400" rtl="0" eaLnBrk="1" latinLnBrk="0" hangingPunct="1">
              <a:defRPr sz="2400" b="0" i="0" kern="1200">
                <a:solidFill>
                  <a:schemeClr val="tx1"/>
                </a:solidFill>
                <a:latin typeface="Sagona Book" panose="0202050305050502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FB4751-880F-D840-AAA9-3A15815CC996}" type="slidenum">
              <a:rPr lang="en-US" smtClean="0"/>
              <a:pPr/>
              <a:t>7</a:t>
            </a:fld>
            <a:endParaRPr lang="en-US" dirty="0"/>
          </a:p>
        </p:txBody>
      </p:sp>
      <p:sp>
        <p:nvSpPr>
          <p:cNvPr id="4" name="TextBox 3">
            <a:extLst>
              <a:ext uri="{FF2B5EF4-FFF2-40B4-BE49-F238E27FC236}">
                <a16:creationId xmlns:a16="http://schemas.microsoft.com/office/drawing/2014/main" id="{777950C2-D21A-3A19-B7BE-EDC64D7EEBB3}"/>
              </a:ext>
            </a:extLst>
          </p:cNvPr>
          <p:cNvSpPr txBox="1"/>
          <p:nvPr/>
        </p:nvSpPr>
        <p:spPr>
          <a:xfrm>
            <a:off x="861848" y="672662"/>
            <a:ext cx="6905297" cy="5774914"/>
          </a:xfrm>
          <a:prstGeom prst="rect">
            <a:avLst/>
          </a:prstGeom>
          <a:noFill/>
        </p:spPr>
        <p:txBody>
          <a:bodyPr wrap="square">
            <a:spAutoFit/>
          </a:bodyPr>
          <a:lstStyle/>
          <a:p>
            <a:pPr algn="just">
              <a:lnSpc>
                <a:spcPct val="107000"/>
              </a:lnSpc>
              <a:spcAft>
                <a:spcPts val="800"/>
              </a:spcAft>
              <a:buNone/>
            </a:pPr>
            <a:r>
              <a:rPr lang="en-US" sz="3200" b="1" kern="100" dirty="0">
                <a:effectLst/>
                <a:latin typeface="Calibri" panose="020F0502020204030204" pitchFamily="34" charset="0"/>
                <a:ea typeface="Calibri" panose="020F0502020204030204" pitchFamily="34" charset="0"/>
                <a:cs typeface="Times New Roman" panose="02020603050405020304" pitchFamily="18" charset="0"/>
              </a:rPr>
              <a:t>Statistics of CHD in India and worldwide: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b="1" kern="100" dirty="0">
                <a:effectLst/>
                <a:latin typeface="Tahoma" panose="020B0604030504040204" pitchFamily="34" charset="0"/>
                <a:ea typeface="Tahoma" panose="020B0604030504040204" pitchFamily="34" charset="0"/>
                <a:cs typeface="Tahoma" panose="020B0604030504040204" pitchFamily="34" charset="0"/>
              </a:rPr>
              <a:t>Globally, cardiovascular diseases (CVDs) caused over 17 million deaths in 2016, representing 31% of all global deaths. In India, CVDs are the leading cause of mortality, with a higher death rate than the global average and a significant increase in recent decades. Key statistics show that coronary heart disease is a major concern, often affecting younger people in India and leading to a high economic burden, though rates vary by region.</a:t>
            </a:r>
          </a:p>
          <a:p>
            <a:pPr lvl="1"/>
            <a:r>
              <a:rPr lang="en-IN" sz="3200" b="1" dirty="0">
                <a:latin typeface="Calibri" panose="020F0502020204030204" pitchFamily="34" charset="0"/>
                <a:ea typeface="Calibri" panose="020F0502020204030204" pitchFamily="34" charset="0"/>
                <a:cs typeface="Calibri" panose="020F0502020204030204" pitchFamily="34" charset="0"/>
              </a:rPr>
              <a:t>Leading cause of death:</a:t>
            </a:r>
          </a:p>
          <a:p>
            <a:r>
              <a:rPr lang="en-IN" b="1" dirty="0">
                <a:latin typeface="Calibri" panose="020F0502020204030204" pitchFamily="34" charset="0"/>
                <a:ea typeface="Calibri" panose="020F0502020204030204" pitchFamily="34" charset="0"/>
                <a:cs typeface="Calibri" panose="020F0502020204030204" pitchFamily="34" charset="0"/>
              </a:rPr>
              <a:t>. </a:t>
            </a:r>
            <a:r>
              <a:rPr lang="en-IN" sz="1400" b="1" dirty="0">
                <a:latin typeface="Tahoma" panose="020B0604030504040204" pitchFamily="34" charset="0"/>
                <a:ea typeface="Tahoma" panose="020B0604030504040204" pitchFamily="34" charset="0"/>
                <a:cs typeface="Tahoma" panose="020B0604030504040204" pitchFamily="34" charset="0"/>
              </a:rPr>
              <a:t>CVDs are the leading cause of mortality in India, with a higher age-standardized death rate than the global average</a:t>
            </a:r>
            <a:r>
              <a:rPr lang="en-IN" sz="1400" dirty="0">
                <a:latin typeface="Tahoma" panose="020B0604030504040204" pitchFamily="34" charset="0"/>
                <a:ea typeface="Tahoma" panose="020B0604030504040204" pitchFamily="34" charset="0"/>
                <a:cs typeface="Tahoma" panose="020B0604030504040204" pitchFamily="34" charset="0"/>
              </a:rPr>
              <a:t>.</a:t>
            </a:r>
          </a:p>
          <a:p>
            <a:pPr lvl="1"/>
            <a:r>
              <a:rPr lang="en-IN" sz="3200" b="1" dirty="0">
                <a:latin typeface="Calibri" panose="020F0502020204030204" pitchFamily="34" charset="0"/>
                <a:ea typeface="Calibri" panose="020F0502020204030204" pitchFamily="34" charset="0"/>
                <a:cs typeface="Calibri" panose="020F0502020204030204" pitchFamily="34" charset="0"/>
              </a:rPr>
              <a:t>Early onset:</a:t>
            </a:r>
            <a:endParaRPr lang="en-IN" sz="3200"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 </a:t>
            </a:r>
            <a:r>
              <a:rPr lang="en-IN" sz="1400" b="1" dirty="0">
                <a:latin typeface="Tahoma" panose="020B0604030504040204" pitchFamily="34" charset="0"/>
                <a:ea typeface="Tahoma" panose="020B0604030504040204" pitchFamily="34" charset="0"/>
                <a:cs typeface="Tahoma" panose="020B0604030504040204" pitchFamily="34" charset="0"/>
              </a:rPr>
              <a:t>Indians are likely to develop cardiovascular diseases about a decade earlier than Europeans, with 50% of heart attacks in India occurring in men under 50 in 2022.</a:t>
            </a:r>
          </a:p>
          <a:p>
            <a:endParaRPr lang="en-IN" sz="1400" dirty="0">
              <a:latin typeface="Tahoma" panose="020B0604030504040204" pitchFamily="34" charset="0"/>
              <a:ea typeface="Tahoma" panose="020B0604030504040204" pitchFamily="34" charset="0"/>
              <a:cs typeface="Tahoma" panose="020B0604030504040204" pitchFamily="34" charset="0"/>
            </a:endParaRPr>
          </a:p>
          <a:p>
            <a:pPr algn="just">
              <a:lnSpc>
                <a:spcPct val="107000"/>
              </a:lnSpc>
              <a:spcAft>
                <a:spcPts val="800"/>
              </a:spcAft>
              <a:buNone/>
            </a:pP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Know How to Reduce Heart Attack Risks | 040 4345 4345">
            <a:extLst>
              <a:ext uri="{FF2B5EF4-FFF2-40B4-BE49-F238E27FC236}">
                <a16:creationId xmlns:a16="http://schemas.microsoft.com/office/drawing/2014/main" id="{ED884F70-181B-E66A-1900-F556EB403BC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7484" y="746233"/>
            <a:ext cx="4207732" cy="2280745"/>
          </a:xfrm>
          <a:prstGeom prst="rect">
            <a:avLst/>
          </a:prstGeom>
          <a:noFill/>
          <a:ln>
            <a:noFill/>
          </a:ln>
        </p:spPr>
      </p:pic>
    </p:spTree>
    <p:extLst>
      <p:ext uri="{BB962C8B-B14F-4D97-AF65-F5344CB8AC3E}">
        <p14:creationId xmlns:p14="http://schemas.microsoft.com/office/powerpoint/2010/main" val="335361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7CFA-564E-1DA2-EFD4-7B55319E5D36}"/>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5BC088AB-8B6C-4122-A26B-E409B9745FDA}"/>
              </a:ext>
            </a:extLst>
          </p:cNvPr>
          <p:cNvSpPr>
            <a:spLocks noGrp="1"/>
          </p:cNvSpPr>
          <p:nvPr>
            <p:ph idx="1"/>
          </p:nvPr>
        </p:nvSpPr>
        <p:spPr/>
        <p:txBody>
          <a:bodyPr/>
          <a:lstStyle/>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This dataset is located at Kaggle website.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dataset contains 16 attributes in all, of which 15 are independent factors and one variable i.e.,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TenYearCHD</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is the dependent variable or target variable.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This data set contains total 4240 data. All attributes in data set are numeric.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Demographic:</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Sex: male or female (1-male  and 0-female)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Age: Age of the patient;(Continuous - Although the recorded ages have been truncated to whole numbers, the concept of age is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Education: no further information provided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6573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DBE7D-40B7-262A-70C7-13666FBEE0BD}"/>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EECA9BD4-3B78-80EF-B82A-01836247FFA9}"/>
              </a:ext>
            </a:extLst>
          </p:cNvPr>
          <p:cNvSpPr>
            <a:spLocks noGrp="1"/>
          </p:cNvSpPr>
          <p:nvPr>
            <p:ph idx="1"/>
          </p:nvPr>
        </p:nvSpPr>
        <p:spPr/>
        <p:txBody>
          <a:bodyPr/>
          <a:lstStyle/>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Behavioural: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Current Smoker: whether or not the patient is a current smoker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Cigs Per Day: the number of cigarettes that the person smoked on average in one day (can be considered continuous as one can have any number of cigarettes, even half a cigarette.)</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indent="342900"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on medical history: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BP Meds: whether or not the patient was on blood pressure medication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Prevalent Stroke: whether or not the patient had previously had a stroke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Prevalent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Hyp</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whether or not the patient was hypertensive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Diabetes: whether or not the patient had diabetes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4254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82A4-41F0-948E-9E26-D69CD06DEA95}"/>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A8642091-9573-731F-3FD8-DF9654A2917E}"/>
              </a:ext>
            </a:extLst>
          </p:cNvPr>
          <p:cNvSpPr>
            <a:spLocks noGrp="1"/>
          </p:cNvSpPr>
          <p:nvPr>
            <p:ph idx="1"/>
          </p:nvPr>
        </p:nvSpPr>
        <p:spPr/>
        <p:txBody>
          <a:bodyPr>
            <a:normAutofit fontScale="92500" lnSpcReduction="10000"/>
          </a:bodyPr>
          <a:lstStyle/>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on current medical condition: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Tot Chol: total cholesterol level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Sys BP: systolic blood pressure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Dia BP: diastolic blood pressure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BMI: Body Mass Index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Heart Rate: heart rate (Continuous - In medical research, variables such as heart rate though in fact discrete, yet are considered continuous because of large number of possible values.)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Glucose: glucose level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Target variable to predict: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10year risk of coronary heart disease (CHD) - (binary: “1”, means “Yes”, “0” means “No”)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66850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1E20-DB43-39A8-B67D-3818679D3767}"/>
              </a:ext>
            </a:extLst>
          </p:cNvPr>
          <p:cNvSpPr>
            <a:spLocks noGrp="1"/>
          </p:cNvSpPr>
          <p:nvPr>
            <p:ph type="title"/>
          </p:nvPr>
        </p:nvSpPr>
        <p:spPr/>
        <p:txBody>
          <a:bodyPr/>
          <a:lstStyle/>
          <a:p>
            <a:r>
              <a:rPr lang="en-US" dirty="0"/>
              <a:t>Attribute Description</a:t>
            </a:r>
            <a:endParaRPr lang="en-IN" dirty="0"/>
          </a:p>
        </p:txBody>
      </p:sp>
      <p:graphicFrame>
        <p:nvGraphicFramePr>
          <p:cNvPr id="7" name="Content Placeholder 6">
            <a:extLst>
              <a:ext uri="{FF2B5EF4-FFF2-40B4-BE49-F238E27FC236}">
                <a16:creationId xmlns:a16="http://schemas.microsoft.com/office/drawing/2014/main" id="{E0DAB406-8629-4EB1-5EEA-6E5D231C84FC}"/>
              </a:ext>
            </a:extLst>
          </p:cNvPr>
          <p:cNvGraphicFramePr>
            <a:graphicFrameLocks noGrp="1"/>
          </p:cNvGraphicFramePr>
          <p:nvPr>
            <p:ph idx="1"/>
            <p:extLst>
              <p:ext uri="{D42A27DB-BD31-4B8C-83A1-F6EECF244321}">
                <p14:modId xmlns:p14="http://schemas.microsoft.com/office/powerpoint/2010/main" val="947162113"/>
              </p:ext>
            </p:extLst>
          </p:nvPr>
        </p:nvGraphicFramePr>
        <p:xfrm>
          <a:off x="1981200" y="1422400"/>
          <a:ext cx="7223760" cy="4472014"/>
        </p:xfrm>
        <a:graphic>
          <a:graphicData uri="http://schemas.openxmlformats.org/drawingml/2006/table">
            <a:tbl>
              <a:tblPr firstRow="1" firstCol="1" lastRow="1" lastCol="1" bandRow="1" bandCol="1">
                <a:tableStyleId>{5C22544A-7EE6-4342-B048-85BDC9FD1C3A}</a:tableStyleId>
              </a:tblPr>
              <a:tblGrid>
                <a:gridCol w="1436588">
                  <a:extLst>
                    <a:ext uri="{9D8B030D-6E8A-4147-A177-3AD203B41FA5}">
                      <a16:colId xmlns:a16="http://schemas.microsoft.com/office/drawing/2014/main" val="308758725"/>
                    </a:ext>
                  </a:extLst>
                </a:gridCol>
                <a:gridCol w="5787172">
                  <a:extLst>
                    <a:ext uri="{9D8B030D-6E8A-4147-A177-3AD203B41FA5}">
                      <a16:colId xmlns:a16="http://schemas.microsoft.com/office/drawing/2014/main" val="3386308455"/>
                    </a:ext>
                  </a:extLst>
                </a:gridCol>
              </a:tblGrid>
              <a:tr h="531875">
                <a:tc>
                  <a:txBody>
                    <a:bodyPr/>
                    <a:lstStyle/>
                    <a:p>
                      <a:pPr marL="75565" marR="73025" algn="ctr">
                        <a:lnSpc>
                          <a:spcPts val="1115"/>
                        </a:lnSpc>
                        <a:spcBef>
                          <a:spcPts val="175"/>
                        </a:spcBef>
                        <a:spcAft>
                          <a:spcPts val="0"/>
                        </a:spcAft>
                      </a:pPr>
                      <a:endParaRPr lang="en-US" sz="1300" dirty="0">
                        <a:effectLst/>
                      </a:endParaRPr>
                    </a:p>
                    <a:p>
                      <a:pPr marL="75565" marR="73025" algn="ctr">
                        <a:lnSpc>
                          <a:spcPts val="1115"/>
                        </a:lnSpc>
                        <a:spcBef>
                          <a:spcPts val="175"/>
                        </a:spcBef>
                        <a:spcAft>
                          <a:spcPts val="0"/>
                        </a:spcAft>
                      </a:pPr>
                      <a:r>
                        <a:rPr lang="en-US" sz="1300" dirty="0">
                          <a:effectLst/>
                        </a:rPr>
                        <a:t>Age</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endParaRPr lang="en-US" sz="1300" dirty="0">
                        <a:effectLst/>
                      </a:endParaRPr>
                    </a:p>
                    <a:p>
                      <a:pPr algn="ctr">
                        <a:lnSpc>
                          <a:spcPts val="1115"/>
                        </a:lnSpc>
                        <a:spcBef>
                          <a:spcPts val="175"/>
                        </a:spcBef>
                      </a:pPr>
                      <a:r>
                        <a:rPr lang="en-US" sz="1300" dirty="0">
                          <a:effectLst/>
                        </a:rPr>
                        <a:t>(32-70)</a:t>
                      </a:r>
                      <a:endParaRPr lang="en-IN" sz="1000" dirty="0">
                        <a:effectLst/>
                      </a:endParaRPr>
                    </a:p>
                    <a:p>
                      <a:pPr algn="ctr">
                        <a:lnSpc>
                          <a:spcPts val="1115"/>
                        </a:lnSpc>
                        <a:spcBef>
                          <a:spcPts val="175"/>
                        </a:spcBef>
                      </a:pPr>
                      <a:r>
                        <a:rPr lang="en-US" sz="1300" dirty="0">
                          <a:effectLst/>
                        </a:rPr>
                        <a:t> </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37661177"/>
                  </a:ext>
                </a:extLst>
              </a:tr>
              <a:tr h="348995">
                <a:tc>
                  <a:txBody>
                    <a:bodyPr/>
                    <a:lstStyle/>
                    <a:p>
                      <a:pPr marL="75565" marR="71755" algn="ctr">
                        <a:lnSpc>
                          <a:spcPts val="1115"/>
                        </a:lnSpc>
                        <a:spcBef>
                          <a:spcPts val="175"/>
                        </a:spcBef>
                        <a:spcAft>
                          <a:spcPts val="0"/>
                        </a:spcAft>
                      </a:pPr>
                      <a:r>
                        <a:rPr lang="en-US" sz="1300">
                          <a:effectLst/>
                        </a:rPr>
                        <a:t>Sex</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a:effectLst/>
                        </a:rPr>
                        <a:t>0=Female, 1=Male</a:t>
                      </a:r>
                      <a:endParaRPr lang="en-IN" sz="1000">
                        <a:effectLst/>
                      </a:endParaRPr>
                    </a:p>
                    <a:p>
                      <a:pPr algn="ctr">
                        <a:lnSpc>
                          <a:spcPts val="1115"/>
                        </a:lnSpc>
                        <a:spcBef>
                          <a:spcPts val="175"/>
                        </a:spcBef>
                      </a:pPr>
                      <a:r>
                        <a:rPr lang="en-US" sz="1300">
                          <a:effectLst/>
                        </a:rPr>
                        <a:t> </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219022436"/>
                  </a:ext>
                </a:extLst>
              </a:tr>
              <a:tr h="995824">
                <a:tc>
                  <a:txBody>
                    <a:bodyPr/>
                    <a:lstStyle/>
                    <a:p>
                      <a:pPr marL="75565" marR="71120" algn="ctr">
                        <a:lnSpc>
                          <a:spcPts val="1115"/>
                        </a:lnSpc>
                        <a:spcBef>
                          <a:spcPts val="175"/>
                        </a:spcBef>
                        <a:spcAft>
                          <a:spcPts val="0"/>
                        </a:spcAft>
                      </a:pPr>
                      <a:r>
                        <a:rPr lang="en-US" sz="1300">
                          <a:effectLst/>
                        </a:rPr>
                        <a:t>Education</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It takes values as:</a:t>
                      </a:r>
                      <a:endParaRPr lang="en-IN" sz="1000" dirty="0">
                        <a:effectLst/>
                      </a:endParaRPr>
                    </a:p>
                    <a:p>
                      <a:pPr algn="ctr">
                        <a:lnSpc>
                          <a:spcPct val="115000"/>
                        </a:lnSpc>
                        <a:spcBef>
                          <a:spcPts val="175"/>
                        </a:spcBef>
                      </a:pPr>
                      <a:r>
                        <a:rPr lang="en-US" sz="1300" dirty="0">
                          <a:effectLst/>
                        </a:rPr>
                        <a:t>1=High School,</a:t>
                      </a:r>
                      <a:endParaRPr lang="en-IN" sz="1000" dirty="0">
                        <a:effectLst/>
                      </a:endParaRPr>
                    </a:p>
                    <a:p>
                      <a:pPr algn="ctr">
                        <a:lnSpc>
                          <a:spcPct val="115000"/>
                        </a:lnSpc>
                        <a:spcBef>
                          <a:spcPts val="5"/>
                        </a:spcBef>
                      </a:pPr>
                      <a:r>
                        <a:rPr lang="en-US" sz="1300" dirty="0">
                          <a:effectLst/>
                        </a:rPr>
                        <a:t>2=High School or above,</a:t>
                      </a:r>
                      <a:endParaRPr lang="en-IN" sz="1000" dirty="0">
                        <a:effectLst/>
                      </a:endParaRPr>
                    </a:p>
                    <a:p>
                      <a:pPr marR="1236980" indent="31750" algn="ctr">
                        <a:lnSpc>
                          <a:spcPts val="1140"/>
                        </a:lnSpc>
                        <a:spcBef>
                          <a:spcPts val="20"/>
                        </a:spcBef>
                        <a:spcAft>
                          <a:spcPts val="0"/>
                        </a:spcAft>
                      </a:pPr>
                      <a:r>
                        <a:rPr lang="en-US" sz="1300" dirty="0">
                          <a:effectLst/>
                        </a:rPr>
                        <a:t>                          3=College or Vocational School, 4=College</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120687718"/>
                  </a:ext>
                </a:extLst>
              </a:tr>
              <a:tr h="934239">
                <a:tc>
                  <a:txBody>
                    <a:bodyPr/>
                    <a:lstStyle/>
                    <a:p>
                      <a:pPr marL="257175" marR="242570" indent="4445" algn="ctr">
                        <a:lnSpc>
                          <a:spcPct val="115000"/>
                        </a:lnSpc>
                        <a:spcBef>
                          <a:spcPts val="175"/>
                        </a:spcBef>
                        <a:spcAft>
                          <a:spcPts val="0"/>
                        </a:spcAft>
                      </a:pPr>
                      <a:r>
                        <a:rPr lang="en-US" sz="1300" dirty="0">
                          <a:effectLst/>
                        </a:rPr>
                        <a:t>Current Smoker</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endParaRPr lang="en-US" sz="1300" dirty="0">
                        <a:effectLst/>
                      </a:endParaRPr>
                    </a:p>
                    <a:p>
                      <a:pPr algn="ctr">
                        <a:lnSpc>
                          <a:spcPts val="1115"/>
                        </a:lnSpc>
                        <a:spcBef>
                          <a:spcPts val="175"/>
                        </a:spcBef>
                      </a:pPr>
                      <a:r>
                        <a:rPr lang="en-US" sz="1300" dirty="0">
                          <a:effectLst/>
                        </a:rPr>
                        <a:t>0=No</a:t>
                      </a:r>
                      <a:endParaRPr lang="en-IN" sz="1000" dirty="0">
                        <a:effectLst/>
                      </a:endParaRPr>
                    </a:p>
                    <a:p>
                      <a:pPr algn="ctr">
                        <a:lnSpc>
                          <a:spcPct val="115000"/>
                        </a:lnSpc>
                        <a:spcBef>
                          <a:spcPts val="175"/>
                        </a:spcBef>
                      </a:pPr>
                      <a:r>
                        <a:rPr lang="en-US" sz="1300" dirty="0">
                          <a:effectLst/>
                        </a:rPr>
                        <a:t>1=Yes</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169421264"/>
                  </a:ext>
                </a:extLst>
              </a:tr>
              <a:tr h="479784">
                <a:tc>
                  <a:txBody>
                    <a:bodyPr/>
                    <a:lstStyle/>
                    <a:p>
                      <a:pPr marL="75565" marR="69850" algn="ctr">
                        <a:lnSpc>
                          <a:spcPts val="1115"/>
                        </a:lnSpc>
                        <a:spcBef>
                          <a:spcPts val="175"/>
                        </a:spcBef>
                        <a:spcAft>
                          <a:spcPts val="0"/>
                        </a:spcAft>
                      </a:pPr>
                      <a:r>
                        <a:rPr lang="en-US" sz="1300">
                          <a:effectLst/>
                        </a:rPr>
                        <a:t>Cigs Per Day</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Number of Cigarettes smoked Per Day (0-70)</a:t>
                      </a:r>
                      <a:endParaRPr lang="en-IN" sz="1000" dirty="0">
                        <a:effectLst/>
                      </a:endParaRPr>
                    </a:p>
                    <a:p>
                      <a:pPr algn="ctr">
                        <a:lnSpc>
                          <a:spcPts val="1115"/>
                        </a:lnSpc>
                        <a:spcBef>
                          <a:spcPts val="175"/>
                        </a:spcBef>
                      </a:pPr>
                      <a:r>
                        <a:rPr lang="en-US" sz="1300" dirty="0">
                          <a:effectLst/>
                        </a:rPr>
                        <a:t> </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246966956"/>
                  </a:ext>
                </a:extLst>
              </a:tr>
              <a:tr h="422658">
                <a:tc>
                  <a:txBody>
                    <a:bodyPr/>
                    <a:lstStyle/>
                    <a:p>
                      <a:pPr marL="75565" marR="68580" algn="ctr">
                        <a:lnSpc>
                          <a:spcPts val="1115"/>
                        </a:lnSpc>
                        <a:spcBef>
                          <a:spcPts val="175"/>
                        </a:spcBef>
                        <a:spcAft>
                          <a:spcPts val="0"/>
                        </a:spcAft>
                      </a:pPr>
                      <a:r>
                        <a:rPr lang="en-US" sz="1300">
                          <a:effectLst/>
                        </a:rPr>
                        <a:t>BP Meds</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a:effectLst/>
                        </a:rPr>
                        <a:t>0=No</a:t>
                      </a:r>
                      <a:endParaRPr lang="en-IN" sz="1000">
                        <a:effectLst/>
                      </a:endParaRPr>
                    </a:p>
                    <a:p>
                      <a:pPr algn="ctr">
                        <a:lnSpc>
                          <a:spcPct val="115000"/>
                        </a:lnSpc>
                        <a:spcBef>
                          <a:spcPts val="175"/>
                        </a:spcBef>
                      </a:pPr>
                      <a:r>
                        <a:rPr lang="en-US" sz="1300">
                          <a:effectLst/>
                        </a:rPr>
                        <a:t>1=Yes</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813861754"/>
                  </a:ext>
                </a:extLst>
              </a:tr>
              <a:tr h="758639">
                <a:tc>
                  <a:txBody>
                    <a:bodyPr/>
                    <a:lstStyle/>
                    <a:p>
                      <a:pPr marL="288925" indent="-73660" algn="ctr">
                        <a:lnSpc>
                          <a:spcPct val="115000"/>
                        </a:lnSpc>
                        <a:spcBef>
                          <a:spcPts val="175"/>
                        </a:spcBef>
                      </a:pPr>
                      <a:r>
                        <a:rPr lang="en-US" sz="1300">
                          <a:effectLst/>
                        </a:rPr>
                        <a:t>Prevalent Stroke</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0=No</a:t>
                      </a:r>
                      <a:endParaRPr lang="en-IN" sz="1000" dirty="0">
                        <a:effectLst/>
                      </a:endParaRPr>
                    </a:p>
                    <a:p>
                      <a:pPr algn="ctr">
                        <a:lnSpc>
                          <a:spcPct val="115000"/>
                        </a:lnSpc>
                        <a:spcBef>
                          <a:spcPts val="175"/>
                        </a:spcBef>
                      </a:pPr>
                      <a:r>
                        <a:rPr lang="en-US" sz="1300" dirty="0">
                          <a:effectLst/>
                        </a:rPr>
                        <a:t>1=Yes</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889639547"/>
                  </a:ext>
                </a:extLst>
              </a:tr>
            </a:tbl>
          </a:graphicData>
        </a:graphic>
      </p:graphicFrame>
    </p:spTree>
    <p:extLst>
      <p:ext uri="{BB962C8B-B14F-4D97-AF65-F5344CB8AC3E}">
        <p14:creationId xmlns:p14="http://schemas.microsoft.com/office/powerpoint/2010/main" val="30055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C713-EE34-3936-1B0C-846FF8050A50}"/>
              </a:ext>
            </a:extLst>
          </p:cNvPr>
          <p:cNvSpPr>
            <a:spLocks noGrp="1"/>
          </p:cNvSpPr>
          <p:nvPr>
            <p:ph type="title"/>
          </p:nvPr>
        </p:nvSpPr>
        <p:spPr/>
        <p:txBody>
          <a:bodyPr/>
          <a:lstStyle/>
          <a:p>
            <a:r>
              <a:rPr lang="en-US" dirty="0"/>
              <a:t>Attribute Description</a:t>
            </a:r>
            <a:endParaRPr lang="en-IN" dirty="0"/>
          </a:p>
        </p:txBody>
      </p:sp>
      <p:graphicFrame>
        <p:nvGraphicFramePr>
          <p:cNvPr id="4" name="Content Placeholder 3">
            <a:extLst>
              <a:ext uri="{FF2B5EF4-FFF2-40B4-BE49-F238E27FC236}">
                <a16:creationId xmlns:a16="http://schemas.microsoft.com/office/drawing/2014/main" id="{4A3C4DF0-AADF-3998-E8AE-E6C79A61BD8D}"/>
              </a:ext>
            </a:extLst>
          </p:cNvPr>
          <p:cNvGraphicFramePr>
            <a:graphicFrameLocks noGrp="1"/>
          </p:cNvGraphicFramePr>
          <p:nvPr>
            <p:ph idx="1"/>
            <p:extLst>
              <p:ext uri="{D42A27DB-BD31-4B8C-83A1-F6EECF244321}">
                <p14:modId xmlns:p14="http://schemas.microsoft.com/office/powerpoint/2010/main" val="2288751654"/>
              </p:ext>
            </p:extLst>
          </p:nvPr>
        </p:nvGraphicFramePr>
        <p:xfrm>
          <a:off x="2153920" y="1412240"/>
          <a:ext cx="8432800" cy="5922130"/>
        </p:xfrm>
        <a:graphic>
          <a:graphicData uri="http://schemas.openxmlformats.org/drawingml/2006/table">
            <a:tbl>
              <a:tblPr firstRow="1" firstCol="1" lastRow="1" lastCol="1" bandRow="1" bandCol="1">
                <a:tableStyleId>{5C22544A-7EE6-4342-B048-85BDC9FD1C3A}</a:tableStyleId>
              </a:tblPr>
              <a:tblGrid>
                <a:gridCol w="1677028">
                  <a:extLst>
                    <a:ext uri="{9D8B030D-6E8A-4147-A177-3AD203B41FA5}">
                      <a16:colId xmlns:a16="http://schemas.microsoft.com/office/drawing/2014/main" val="3035149605"/>
                    </a:ext>
                  </a:extLst>
                </a:gridCol>
                <a:gridCol w="6755772">
                  <a:extLst>
                    <a:ext uri="{9D8B030D-6E8A-4147-A177-3AD203B41FA5}">
                      <a16:colId xmlns:a16="http://schemas.microsoft.com/office/drawing/2014/main" val="2340909536"/>
                    </a:ext>
                  </a:extLst>
                </a:gridCol>
              </a:tblGrid>
              <a:tr h="442303">
                <a:tc>
                  <a:txBody>
                    <a:bodyPr/>
                    <a:lstStyle/>
                    <a:p>
                      <a:pPr marL="75565" marR="73660" algn="ctr">
                        <a:lnSpc>
                          <a:spcPts val="1115"/>
                        </a:lnSpc>
                        <a:spcBef>
                          <a:spcPts val="175"/>
                        </a:spcBef>
                        <a:spcAft>
                          <a:spcPts val="0"/>
                        </a:spcAft>
                      </a:pPr>
                      <a:r>
                        <a:rPr lang="en-US" sz="1400">
                          <a:effectLst/>
                        </a:rPr>
                        <a:t>Prevalent Hyp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0=No</a:t>
                      </a:r>
                      <a:endParaRPr lang="en-IN" sz="1100">
                        <a:effectLst/>
                      </a:endParaRPr>
                    </a:p>
                    <a:p>
                      <a:pPr algn="ctr">
                        <a:lnSpc>
                          <a:spcPct val="115000"/>
                        </a:lnSpc>
                        <a:spcBef>
                          <a:spcPts val="175"/>
                        </a:spcBef>
                      </a:pPr>
                      <a:r>
                        <a:rPr lang="en-US" sz="1400">
                          <a:effectLst/>
                        </a:rPr>
                        <a:t>1=Yes</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477655797"/>
                  </a:ext>
                </a:extLst>
              </a:tr>
              <a:tr h="573612">
                <a:tc>
                  <a:txBody>
                    <a:bodyPr/>
                    <a:lstStyle/>
                    <a:p>
                      <a:pPr marL="75565" marR="71120" algn="ctr">
                        <a:lnSpc>
                          <a:spcPts val="1125"/>
                        </a:lnSpc>
                        <a:spcBef>
                          <a:spcPts val="175"/>
                        </a:spcBef>
                        <a:spcAft>
                          <a:spcPts val="0"/>
                        </a:spcAft>
                      </a:pPr>
                      <a:r>
                        <a:rPr lang="en-US" sz="1400">
                          <a:effectLst/>
                        </a:rPr>
                        <a:t>Diabetes</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20"/>
                        </a:lnSpc>
                        <a:spcBef>
                          <a:spcPts val="175"/>
                        </a:spcBef>
                      </a:pPr>
                      <a:r>
                        <a:rPr lang="en-US" sz="1400" dirty="0">
                          <a:effectLst/>
                        </a:rPr>
                        <a:t>0=No</a:t>
                      </a:r>
                      <a:endParaRPr lang="en-IN" sz="1100" dirty="0">
                        <a:effectLst/>
                      </a:endParaRPr>
                    </a:p>
                    <a:p>
                      <a:pPr algn="ctr">
                        <a:lnSpc>
                          <a:spcPts val="1145"/>
                        </a:lnSpc>
                        <a:spcBef>
                          <a:spcPts val="175"/>
                        </a:spcBef>
                      </a:pPr>
                      <a:r>
                        <a:rPr lang="en-US" sz="1400" dirty="0">
                          <a:effectLst/>
                        </a:rPr>
                        <a:t>1=Yes</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95908489"/>
                  </a:ext>
                </a:extLst>
              </a:tr>
              <a:tr h="524933">
                <a:tc>
                  <a:txBody>
                    <a:bodyPr/>
                    <a:lstStyle/>
                    <a:p>
                      <a:pPr marL="75565" marR="71120" algn="ctr">
                        <a:lnSpc>
                          <a:spcPts val="1115"/>
                        </a:lnSpc>
                        <a:spcBef>
                          <a:spcPts val="175"/>
                        </a:spcBef>
                        <a:spcAft>
                          <a:spcPts val="0"/>
                        </a:spcAft>
                      </a:pPr>
                      <a:r>
                        <a:rPr lang="en-US" sz="1400">
                          <a:effectLst/>
                        </a:rPr>
                        <a:t>Tot Chol</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Serum Cholesterol (107-696) (mg/dl)</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934367067"/>
                  </a:ext>
                </a:extLst>
              </a:tr>
              <a:tr h="626533">
                <a:tc>
                  <a:txBody>
                    <a:bodyPr/>
                    <a:lstStyle/>
                    <a:p>
                      <a:pPr marL="75565" marR="73025" algn="ctr">
                        <a:lnSpc>
                          <a:spcPts val="1090"/>
                        </a:lnSpc>
                        <a:spcBef>
                          <a:spcPts val="175"/>
                        </a:spcBef>
                        <a:spcAft>
                          <a:spcPts val="0"/>
                        </a:spcAft>
                      </a:pPr>
                      <a:r>
                        <a:rPr lang="en-US" sz="1400">
                          <a:effectLst/>
                        </a:rPr>
                        <a:t>Sys BP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90"/>
                        </a:lnSpc>
                        <a:spcBef>
                          <a:spcPts val="175"/>
                        </a:spcBef>
                      </a:pPr>
                      <a:r>
                        <a:rPr lang="en-US" sz="1400" dirty="0">
                          <a:effectLst/>
                        </a:rPr>
                        <a:t>(83.5-295) (mm/hg)</a:t>
                      </a:r>
                      <a:endParaRPr lang="en-IN" sz="1100" dirty="0">
                        <a:effectLst/>
                      </a:endParaRPr>
                    </a:p>
                    <a:p>
                      <a:pPr algn="ctr">
                        <a:lnSpc>
                          <a:spcPts val="1090"/>
                        </a:lnSpc>
                        <a:spcBef>
                          <a:spcPts val="175"/>
                        </a:spcBef>
                      </a:pPr>
                      <a:r>
                        <a:rPr lang="en-US" sz="1400" dirty="0">
                          <a:effectLst/>
                        </a:rPr>
                        <a:t> </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094571063"/>
                  </a:ext>
                </a:extLst>
              </a:tr>
              <a:tr h="567267">
                <a:tc>
                  <a:txBody>
                    <a:bodyPr/>
                    <a:lstStyle/>
                    <a:p>
                      <a:pPr marL="75565" marR="71120" algn="ctr">
                        <a:lnSpc>
                          <a:spcPts val="1115"/>
                        </a:lnSpc>
                        <a:spcBef>
                          <a:spcPts val="175"/>
                        </a:spcBef>
                        <a:spcAft>
                          <a:spcPts val="0"/>
                        </a:spcAft>
                      </a:pPr>
                      <a:r>
                        <a:rPr lang="en-US" sz="1400">
                          <a:effectLst/>
                        </a:rPr>
                        <a:t>Día BP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(48-142.5) (mm/hg)</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934263520"/>
                  </a:ext>
                </a:extLst>
              </a:tr>
              <a:tr h="550333">
                <a:tc>
                  <a:txBody>
                    <a:bodyPr/>
                    <a:lstStyle/>
                    <a:p>
                      <a:pPr algn="ctr">
                        <a:lnSpc>
                          <a:spcPts val="1115"/>
                        </a:lnSpc>
                        <a:spcBef>
                          <a:spcPts val="175"/>
                        </a:spcBef>
                      </a:pPr>
                      <a:r>
                        <a:rPr lang="en-US" sz="1400">
                          <a:effectLst/>
                        </a:rPr>
                        <a:t>Body Mass</a:t>
                      </a:r>
                      <a:endParaRPr lang="en-IN" sz="1100">
                        <a:effectLst/>
                      </a:endParaRPr>
                    </a:p>
                    <a:p>
                      <a:pPr marL="132080" algn="ctr">
                        <a:lnSpc>
                          <a:spcPts val="1085"/>
                        </a:lnSpc>
                        <a:spcBef>
                          <a:spcPts val="175"/>
                        </a:spcBef>
                      </a:pPr>
                      <a:r>
                        <a:rPr lang="en-US" sz="1400">
                          <a:effectLst/>
                        </a:rPr>
                        <a:t>Index</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(15.54-56.8)</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630161870"/>
                  </a:ext>
                </a:extLst>
              </a:tr>
              <a:tr h="516467">
                <a:tc>
                  <a:txBody>
                    <a:bodyPr/>
                    <a:lstStyle/>
                    <a:p>
                      <a:pPr marL="75565" marR="73025" algn="ctr">
                        <a:lnSpc>
                          <a:spcPts val="1075"/>
                        </a:lnSpc>
                        <a:spcBef>
                          <a:spcPts val="175"/>
                        </a:spcBef>
                        <a:spcAft>
                          <a:spcPts val="0"/>
                        </a:spcAft>
                      </a:pPr>
                      <a:r>
                        <a:rPr lang="en-US" sz="1400">
                          <a:effectLst/>
                        </a:rPr>
                        <a:t>Heart Rate</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75"/>
                        </a:lnSpc>
                        <a:spcBef>
                          <a:spcPts val="175"/>
                        </a:spcBef>
                      </a:pPr>
                      <a:r>
                        <a:rPr lang="en-US" sz="1400">
                          <a:effectLst/>
                        </a:rPr>
                        <a:t>Heart Rate achieved (44-143)</a:t>
                      </a:r>
                      <a:endParaRPr lang="en-IN" sz="1100">
                        <a:effectLst/>
                      </a:endParaRPr>
                    </a:p>
                    <a:p>
                      <a:pPr algn="ctr">
                        <a:lnSpc>
                          <a:spcPts val="107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350284633"/>
                  </a:ext>
                </a:extLst>
              </a:tr>
              <a:tr h="353743">
                <a:tc>
                  <a:txBody>
                    <a:bodyPr/>
                    <a:lstStyle/>
                    <a:p>
                      <a:pPr marL="75565" marR="73025" algn="ctr">
                        <a:lnSpc>
                          <a:spcPts val="1115"/>
                        </a:lnSpc>
                        <a:spcBef>
                          <a:spcPts val="175"/>
                        </a:spcBef>
                        <a:spcAft>
                          <a:spcPts val="0"/>
                        </a:spcAft>
                      </a:pPr>
                      <a:r>
                        <a:rPr lang="en-US" sz="1400">
                          <a:effectLst/>
                        </a:rPr>
                        <a:t>Glucose</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(40-394) (mg/dl)</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40236174"/>
                  </a:ext>
                </a:extLst>
              </a:tr>
              <a:tr h="1766939">
                <a:tc>
                  <a:txBody>
                    <a:bodyPr/>
                    <a:lstStyle/>
                    <a:p>
                      <a:pPr marL="75565" marR="73025" algn="ctr">
                        <a:lnSpc>
                          <a:spcPts val="1075"/>
                        </a:lnSpc>
                        <a:spcBef>
                          <a:spcPts val="175"/>
                        </a:spcBef>
                        <a:spcAft>
                          <a:spcPts val="0"/>
                        </a:spcAft>
                      </a:pPr>
                      <a:endParaRPr lang="en-US" sz="1400" dirty="0">
                        <a:effectLst/>
                      </a:endParaRPr>
                    </a:p>
                    <a:p>
                      <a:pPr marL="75565" marR="73025" algn="ctr">
                        <a:lnSpc>
                          <a:spcPts val="1075"/>
                        </a:lnSpc>
                        <a:spcBef>
                          <a:spcPts val="175"/>
                        </a:spcBef>
                        <a:spcAft>
                          <a:spcPts val="0"/>
                        </a:spcAft>
                      </a:pPr>
                      <a:r>
                        <a:rPr lang="en-US" sz="1400" dirty="0">
                          <a:effectLst/>
                        </a:rPr>
                        <a:t>10-year CHD</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75"/>
                        </a:lnSpc>
                        <a:spcBef>
                          <a:spcPts val="175"/>
                        </a:spcBef>
                      </a:pPr>
                      <a:endParaRPr lang="en-US" sz="1400" dirty="0">
                        <a:effectLst/>
                      </a:endParaRPr>
                    </a:p>
                    <a:p>
                      <a:pPr algn="ctr">
                        <a:lnSpc>
                          <a:spcPts val="1075"/>
                        </a:lnSpc>
                        <a:spcBef>
                          <a:spcPts val="175"/>
                        </a:spcBef>
                      </a:pPr>
                      <a:endParaRPr lang="en-US" sz="1400" dirty="0">
                        <a:effectLst/>
                      </a:endParaRPr>
                    </a:p>
                    <a:p>
                      <a:pPr algn="ctr">
                        <a:lnSpc>
                          <a:spcPts val="1075"/>
                        </a:lnSpc>
                        <a:spcBef>
                          <a:spcPts val="175"/>
                        </a:spcBef>
                      </a:pPr>
                      <a:r>
                        <a:rPr lang="en-US" sz="1400" dirty="0">
                          <a:effectLst/>
                        </a:rPr>
                        <a:t>0=Healthy, 1=Diseases</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972412705"/>
                  </a:ext>
                </a:extLst>
              </a:tr>
            </a:tbl>
          </a:graphicData>
        </a:graphic>
      </p:graphicFrame>
    </p:spTree>
    <p:extLst>
      <p:ext uri="{BB962C8B-B14F-4D97-AF65-F5344CB8AC3E}">
        <p14:creationId xmlns:p14="http://schemas.microsoft.com/office/powerpoint/2010/main" val="3919578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27B7-7A01-C285-6614-9DC39396829F}"/>
              </a:ext>
            </a:extLst>
          </p:cNvPr>
          <p:cNvSpPr>
            <a:spLocks noGrp="1"/>
          </p:cNvSpPr>
          <p:nvPr>
            <p:ph type="title"/>
          </p:nvPr>
        </p:nvSpPr>
        <p:spPr/>
        <p:txBody>
          <a:bodyPr/>
          <a:lstStyle/>
          <a:p>
            <a:r>
              <a:rPr lang="en-US" dirty="0"/>
              <a:t>Software Requirements</a:t>
            </a:r>
            <a:endParaRPr lang="en-IN" dirty="0"/>
          </a:p>
        </p:txBody>
      </p:sp>
      <p:sp>
        <p:nvSpPr>
          <p:cNvPr id="3" name="Content Placeholder 2">
            <a:extLst>
              <a:ext uri="{FF2B5EF4-FFF2-40B4-BE49-F238E27FC236}">
                <a16:creationId xmlns:a16="http://schemas.microsoft.com/office/drawing/2014/main" id="{3491368A-5B4F-0D70-7A55-3639033E4F41}"/>
              </a:ext>
            </a:extLst>
          </p:cNvPr>
          <p:cNvSpPr>
            <a:spLocks noGrp="1"/>
          </p:cNvSpPr>
          <p:nvPr>
            <p:ph idx="1"/>
          </p:nvPr>
        </p:nvSpPr>
        <p:spPr/>
        <p:txBody>
          <a:bodyPr/>
          <a:lstStyle/>
          <a:p>
            <a:pPr algn="just">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Python Packages to be installed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pandas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to provide fast, flexible and expressive data  structures to        make working with “relational” or “labeled” data both easy and intuitive.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spc="-5" dirty="0" err="1">
                <a:effectLst/>
                <a:latin typeface="Calibri" panose="020F0502020204030204" pitchFamily="34" charset="0"/>
                <a:ea typeface="Calibri" panose="020F0502020204030204" pitchFamily="34" charset="0"/>
                <a:cs typeface="Times New Roman" panose="02020603050405020304" pitchFamily="18" charset="0"/>
              </a:rPr>
              <a:t>numpy</a:t>
            </a:r>
            <a:r>
              <a:rPr lang="en-US" sz="1800" spc="-5" dirty="0">
                <a:effectLst/>
                <a:latin typeface="Times New Roman" panose="02020603050405020304" pitchFamily="18" charset="0"/>
                <a:ea typeface="Calibri" panose="020F0502020204030204" pitchFamily="34" charset="0"/>
                <a:cs typeface="Times New Roman" panose="02020603050405020304" pitchFamily="18" charset="0"/>
              </a:rPr>
              <a:t>: To work with arrays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tkinter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for developing Graphical User Interface (GUI).</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sklearn</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efficient for data mining and data analysis. It contains a number of algorithms which can be implemented directly when required.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matplotlib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contains modules which are used for plotting graphs.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Seaborn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for Graphical Presentation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99296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DF1B-9EC3-07BD-CDF4-A5AD5D777C86}"/>
              </a:ext>
            </a:extLst>
          </p:cNvPr>
          <p:cNvSpPr>
            <a:spLocks noGrp="1"/>
          </p:cNvSpPr>
          <p:nvPr>
            <p:ph type="title"/>
          </p:nvPr>
        </p:nvSpPr>
        <p:spPr/>
        <p:txBody>
          <a:bodyPr/>
          <a:lstStyle/>
          <a:p>
            <a:r>
              <a:rPr lang="en-US" dirty="0"/>
              <a:t>System Architecture Diagram</a:t>
            </a:r>
            <a:endParaRPr lang="en-IN" dirty="0"/>
          </a:p>
        </p:txBody>
      </p:sp>
      <p:pic>
        <p:nvPicPr>
          <p:cNvPr id="5" name="Content Placeholder 4">
            <a:extLst>
              <a:ext uri="{FF2B5EF4-FFF2-40B4-BE49-F238E27FC236}">
                <a16:creationId xmlns:a16="http://schemas.microsoft.com/office/drawing/2014/main" id="{AE5E9879-813F-E9A7-E2FB-AED87C1F9C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8400" y="1259840"/>
            <a:ext cx="10048240" cy="5364479"/>
          </a:xfrm>
        </p:spPr>
      </p:pic>
    </p:spTree>
    <p:extLst>
      <p:ext uri="{BB962C8B-B14F-4D97-AF65-F5344CB8AC3E}">
        <p14:creationId xmlns:p14="http://schemas.microsoft.com/office/powerpoint/2010/main" val="394263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8B5AA-CCD5-6E68-7665-19452C22CBC4}"/>
              </a:ext>
            </a:extLst>
          </p:cNvPr>
          <p:cNvSpPr>
            <a:spLocks noGrp="1"/>
          </p:cNvSpPr>
          <p:nvPr>
            <p:ph type="title"/>
          </p:nvPr>
        </p:nvSpPr>
        <p:spPr/>
        <p:txBody>
          <a:bodyPr/>
          <a:lstStyle/>
          <a:p>
            <a:r>
              <a:rPr lang="en-US" dirty="0"/>
              <a:t>Data Preprocessing</a:t>
            </a:r>
            <a:endParaRPr lang="en-IN" dirty="0"/>
          </a:p>
        </p:txBody>
      </p:sp>
      <p:sp>
        <p:nvSpPr>
          <p:cNvPr id="3" name="Content Placeholder 2">
            <a:extLst>
              <a:ext uri="{FF2B5EF4-FFF2-40B4-BE49-F238E27FC236}">
                <a16:creationId xmlns:a16="http://schemas.microsoft.com/office/drawing/2014/main" id="{8E530A67-82C1-87BC-3E62-BF985EE9014E}"/>
              </a:ext>
            </a:extLst>
          </p:cNvPr>
          <p:cNvSpPr>
            <a:spLocks noGrp="1"/>
          </p:cNvSpPr>
          <p:nvPr>
            <p:ph idx="1"/>
          </p:nvPr>
        </p:nvSpPr>
        <p:spPr/>
        <p:txBody>
          <a:bodyPr>
            <a:normAutofit lnSpcReduction="10000"/>
          </a:bodyPr>
          <a:lstStyle/>
          <a:p>
            <a:pPr marR="24130" indent="182245"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Data</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preprocessing</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is</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group</a:t>
            </a:r>
            <a:r>
              <a:rPr lang="en-US" sz="1800" spc="-2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of</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techniques</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that</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are</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applied </a:t>
            </a:r>
            <a:r>
              <a:rPr lang="en-US" sz="1800" spc="-235" dirty="0">
                <a:effectLst/>
                <a:latin typeface="Calibri" panose="020F0502020204030204" pitchFamily="34" charset="0"/>
                <a:ea typeface="Calibri" panose="020F0502020204030204" pitchFamily="34" charset="0"/>
              </a:rPr>
              <a:t>on</a:t>
            </a:r>
            <a:r>
              <a:rPr lang="en-US" sz="1800" dirty="0">
                <a:effectLst/>
                <a:latin typeface="Calibri" panose="020F0502020204030204" pitchFamily="34" charset="0"/>
                <a:ea typeface="Calibri" panose="020F0502020204030204" pitchFamily="34" charset="0"/>
              </a:rPr>
              <a:t> the data to improve the quality of the data. Raw data can be converted to useful data. It uses various techniques such as handling missing values, detecting outliers, removing un wanted attributes etc. </a:t>
            </a:r>
            <a:endParaRPr lang="en-IN" sz="1800" dirty="0">
              <a:effectLst/>
              <a:latin typeface="Calibri" panose="020F0502020204030204" pitchFamily="34" charset="0"/>
              <a:ea typeface="Calibri" panose="020F0502020204030204" pitchFamily="34" charset="0"/>
            </a:endParaRPr>
          </a:p>
          <a:p>
            <a:pPr marR="24130" indent="182245"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                   Once data is cleaned then it can be used in machine learning models for training. Data preprocessing is one of the most important steps involved in predictive modelling.</a:t>
            </a:r>
            <a:endParaRPr lang="en-IN" sz="1800" dirty="0">
              <a:effectLst/>
              <a:latin typeface="Calibri" panose="020F0502020204030204" pitchFamily="34" charset="0"/>
              <a:ea typeface="Calibri" panose="020F0502020204030204" pitchFamily="34" charset="0"/>
            </a:endParaRPr>
          </a:p>
          <a:p>
            <a:pPr marR="24130" indent="182245" algn="just">
              <a:lnSpc>
                <a:spcPct val="95000"/>
              </a:lnSpc>
              <a:spcBef>
                <a:spcPts val="565"/>
              </a:spcBef>
              <a:spcAft>
                <a:spcPts val="0"/>
              </a:spcAft>
            </a:pPr>
            <a:r>
              <a:rPr lang="en-US" sz="1800" b="1" dirty="0">
                <a:effectLst/>
                <a:latin typeface="Calibri" panose="020F0502020204030204" pitchFamily="34" charset="0"/>
                <a:ea typeface="Calibri" panose="020F0502020204030204" pitchFamily="34" charset="0"/>
              </a:rPr>
              <a:t>Steps followed in data preprocessing</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Education column is removed as it has no relation with heart disease</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Most corelated features are found by using correlation matrix(heatmap).</a:t>
            </a:r>
            <a:endParaRPr lang="en-IN" sz="1800" dirty="0">
              <a:effectLst/>
              <a:latin typeface="Calibri" panose="020F0502020204030204" pitchFamily="34" charset="0"/>
              <a:ea typeface="Calibri" panose="020F0502020204030204" pitchFamily="34" charset="0"/>
            </a:endParaRPr>
          </a:p>
          <a:p>
            <a:pPr marL="457200" marR="24130" algn="just">
              <a:lnSpc>
                <a:spcPct val="95000"/>
              </a:lnSpc>
              <a:spcBef>
                <a:spcPts val="565"/>
              </a:spcBef>
              <a:spcAft>
                <a:spcPts val="0"/>
              </a:spcAft>
            </a:pPr>
            <a:r>
              <a:rPr lang="en-US" sz="1800" dirty="0" err="1">
                <a:effectLst/>
                <a:latin typeface="Calibri" panose="020F0502020204030204" pitchFamily="34" charset="0"/>
                <a:ea typeface="Calibri" panose="020F0502020204030204" pitchFamily="34" charset="0"/>
              </a:rPr>
              <a:t>Sysbp</a:t>
            </a:r>
            <a:r>
              <a:rPr lang="en-US" sz="1800" dirty="0">
                <a:effectLst/>
                <a:latin typeface="Calibri" panose="020F0502020204030204" pitchFamily="34" charset="0"/>
                <a:ea typeface="Calibri" panose="020F0502020204030204" pitchFamily="34" charset="0"/>
              </a:rPr>
              <a:t> and </a:t>
            </a:r>
            <a:r>
              <a:rPr lang="en-US" sz="1800" dirty="0" err="1">
                <a:effectLst/>
                <a:latin typeface="Calibri" panose="020F0502020204030204" pitchFamily="34" charset="0"/>
                <a:ea typeface="Calibri" panose="020F0502020204030204" pitchFamily="34" charset="0"/>
              </a:rPr>
              <a:t>Diabp</a:t>
            </a:r>
            <a:r>
              <a:rPr lang="en-US" sz="1800" dirty="0">
                <a:effectLst/>
                <a:latin typeface="Calibri" panose="020F0502020204030204" pitchFamily="34" charset="0"/>
                <a:ea typeface="Calibri" panose="020F0502020204030204" pitchFamily="34" charset="0"/>
              </a:rPr>
              <a:t> are highly corelated</a:t>
            </a:r>
            <a:endParaRPr lang="en-IN" sz="1800" dirty="0">
              <a:effectLst/>
              <a:latin typeface="Calibri" panose="020F0502020204030204" pitchFamily="34" charset="0"/>
              <a:ea typeface="Calibri" panose="020F0502020204030204" pitchFamily="34" charset="0"/>
            </a:endParaRPr>
          </a:p>
          <a:p>
            <a:pPr marL="457200" marR="24130"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Current smoker and </a:t>
            </a:r>
            <a:r>
              <a:rPr lang="en-US" sz="1800" dirty="0" err="1">
                <a:effectLst/>
                <a:latin typeface="Calibri" panose="020F0502020204030204" pitchFamily="34" charset="0"/>
                <a:ea typeface="Calibri" panose="020F0502020204030204" pitchFamily="34" charset="0"/>
              </a:rPr>
              <a:t>Cigsperday</a:t>
            </a:r>
            <a:r>
              <a:rPr lang="en-US" sz="1800" dirty="0">
                <a:effectLst/>
                <a:latin typeface="Calibri" panose="020F0502020204030204" pitchFamily="34" charset="0"/>
                <a:ea typeface="Calibri" panose="020F0502020204030204" pitchFamily="34" charset="0"/>
              </a:rPr>
              <a:t> are highly corelated.so only one of them is                    selected.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Missing values are handled by imputation .</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Outliers found and removed.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Duplicated rows removed.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Features have been standardized by using Standard Scaler .</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2515543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130C-45E4-E4D8-434C-DB0B485C4BEE}"/>
              </a:ext>
            </a:extLst>
          </p:cNvPr>
          <p:cNvSpPr>
            <a:spLocks noGrp="1"/>
          </p:cNvSpPr>
          <p:nvPr>
            <p:ph type="title"/>
          </p:nvPr>
        </p:nvSpPr>
        <p:spPr/>
        <p:txBody>
          <a:bodyPr>
            <a:normAutofit/>
          </a:bodyPr>
          <a:lstStyle/>
          <a:p>
            <a:r>
              <a:rPr lang="en-IN" sz="3200" b="1" dirty="0">
                <a:effectLst/>
                <a:latin typeface="Calibri" panose="020F0502020204030204" pitchFamily="34" charset="0"/>
                <a:ea typeface="Calibri" panose="020F0502020204030204" pitchFamily="34" charset="0"/>
                <a:cs typeface="Times New Roman" panose="02020603050405020304" pitchFamily="18" charset="0"/>
              </a:rPr>
              <a:t>Exploratory </a:t>
            </a:r>
            <a:r>
              <a:rPr lang="en-IN" sz="3200" b="1" dirty="0">
                <a:latin typeface="Calibri" panose="020F0502020204030204" pitchFamily="34" charset="0"/>
                <a:ea typeface="Calibri" panose="020F0502020204030204" pitchFamily="34" charset="0"/>
                <a:cs typeface="Times New Roman" panose="02020603050405020304" pitchFamily="18" charset="0"/>
              </a:rPr>
              <a:t>A</a:t>
            </a:r>
            <a:r>
              <a:rPr lang="en-IN" sz="3200" b="1" dirty="0">
                <a:effectLst/>
                <a:latin typeface="Calibri" panose="020F0502020204030204" pitchFamily="34" charset="0"/>
                <a:ea typeface="Calibri" panose="020F0502020204030204" pitchFamily="34" charset="0"/>
                <a:cs typeface="Times New Roman" panose="02020603050405020304" pitchFamily="18" charset="0"/>
              </a:rPr>
              <a:t>nalysis</a:t>
            </a:r>
            <a:endParaRPr lang="en-IN" sz="3200" dirty="0"/>
          </a:p>
        </p:txBody>
      </p:sp>
      <p:sp>
        <p:nvSpPr>
          <p:cNvPr id="3" name="Content Placeholder 2">
            <a:extLst>
              <a:ext uri="{FF2B5EF4-FFF2-40B4-BE49-F238E27FC236}">
                <a16:creationId xmlns:a16="http://schemas.microsoft.com/office/drawing/2014/main" id="{F72C0923-ACDA-B9F5-A6B0-ADB8DF7D1913}"/>
              </a:ext>
            </a:extLst>
          </p:cNvPr>
          <p:cNvSpPr>
            <a:spLocks noGrp="1"/>
          </p:cNvSpPr>
          <p:nvPr>
            <p:ph idx="1"/>
          </p:nvPr>
        </p:nvSpPr>
        <p:spPr/>
        <p:txBody>
          <a:bodyPr/>
          <a:lstStyle/>
          <a:p>
            <a:r>
              <a:rPr lang="en-IN" sz="1800" b="1" spc="10" dirty="0">
                <a:solidFill>
                  <a:srgbClr val="273239"/>
                </a:solidFill>
                <a:effectLst/>
                <a:latin typeface="Calibri" panose="020F0502020204030204" pitchFamily="34" charset="0"/>
                <a:ea typeface="Calibri" panose="020F0502020204030204" pitchFamily="34" charset="0"/>
                <a:cs typeface="Times New Roman" panose="02020603050405020304" pitchFamily="18" charset="0"/>
              </a:rPr>
              <a:t>Exploratory Data Analysis (EDA)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an approach to analyse the data using visual techniques. It is used to discover trends, patterns, or to check assumptions with the help of statistical summary and graphical representations.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59561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50F7-D1B2-6536-68A6-6DFCD1D15C26}"/>
              </a:ext>
            </a:extLst>
          </p:cNvPr>
          <p:cNvSpPr>
            <a:spLocks noGrp="1"/>
          </p:cNvSpPr>
          <p:nvPr>
            <p:ph type="title"/>
          </p:nvPr>
        </p:nvSpPr>
        <p:spPr/>
        <p:txBody>
          <a:bodyPr/>
          <a:lstStyle/>
          <a:p>
            <a:r>
              <a:rPr lang="en-US" dirty="0" err="1"/>
              <a:t>Corelation</a:t>
            </a:r>
            <a:r>
              <a:rPr lang="en-US" dirty="0"/>
              <a:t> Matrix</a:t>
            </a:r>
            <a:endParaRPr lang="en-IN" dirty="0"/>
          </a:p>
        </p:txBody>
      </p:sp>
      <p:pic>
        <p:nvPicPr>
          <p:cNvPr id="4" name="Content Placeholder 3">
            <a:extLst>
              <a:ext uri="{FF2B5EF4-FFF2-40B4-BE49-F238E27FC236}">
                <a16:creationId xmlns:a16="http://schemas.microsoft.com/office/drawing/2014/main" id="{4E12AD38-6F08-A3FF-4E7A-EFEB537D2C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7680" y="1574800"/>
            <a:ext cx="8300720" cy="4602163"/>
          </a:xfrm>
          <a:prstGeom prst="rect">
            <a:avLst/>
          </a:prstGeom>
        </p:spPr>
      </p:pic>
    </p:spTree>
    <p:extLst>
      <p:ext uri="{BB962C8B-B14F-4D97-AF65-F5344CB8AC3E}">
        <p14:creationId xmlns:p14="http://schemas.microsoft.com/office/powerpoint/2010/main" val="3047484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684F0-E8BF-810C-BDB1-42F2C65717F9}"/>
              </a:ext>
            </a:extLst>
          </p:cNvPr>
          <p:cNvSpPr>
            <a:spLocks noGrp="1"/>
          </p:cNvSpPr>
          <p:nvPr>
            <p:ph type="title"/>
          </p:nvPr>
        </p:nvSpPr>
        <p:spPr/>
        <p:txBody>
          <a:bodyPr/>
          <a:lstStyle/>
          <a:p>
            <a:r>
              <a:rPr lang="en-US" dirty="0"/>
              <a:t>No of people suffer from heart disease and not</a:t>
            </a:r>
            <a:endParaRPr lang="en-IN" dirty="0"/>
          </a:p>
        </p:txBody>
      </p:sp>
      <p:pic>
        <p:nvPicPr>
          <p:cNvPr id="4" name="Content Placeholder 3">
            <a:extLst>
              <a:ext uri="{FF2B5EF4-FFF2-40B4-BE49-F238E27FC236}">
                <a16:creationId xmlns:a16="http://schemas.microsoft.com/office/drawing/2014/main" id="{5D944035-6237-3ED8-9DC2-BCFAC548E18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8063" y="2337802"/>
            <a:ext cx="5015873" cy="3326984"/>
          </a:xfrm>
          <a:prstGeom prst="rect">
            <a:avLst/>
          </a:prstGeom>
          <a:noFill/>
          <a:ln>
            <a:noFill/>
          </a:ln>
        </p:spPr>
      </p:pic>
    </p:spTree>
    <p:extLst>
      <p:ext uri="{BB962C8B-B14F-4D97-AF65-F5344CB8AC3E}">
        <p14:creationId xmlns:p14="http://schemas.microsoft.com/office/powerpoint/2010/main" val="309813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D42B-A7BD-D886-172B-748591B39B49}"/>
              </a:ext>
            </a:extLst>
          </p:cNvPr>
          <p:cNvSpPr>
            <a:spLocks noGrp="1"/>
          </p:cNvSpPr>
          <p:nvPr>
            <p:ph type="title"/>
          </p:nvPr>
        </p:nvSpPr>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Pie Chart </a:t>
            </a:r>
            <a:r>
              <a:rPr lang="en-IN" sz="1800" b="1" dirty="0" err="1">
                <a:effectLst/>
                <a:latin typeface="Calibri" panose="020F0502020204030204" pitchFamily="34" charset="0"/>
                <a:ea typeface="Calibri" panose="020F0502020204030204" pitchFamily="34" charset="0"/>
                <a:cs typeface="Times New Roman" panose="02020603050405020304" pitchFamily="18" charset="0"/>
              </a:rPr>
              <a:t>showning</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percentage of people with and wit out heart disease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F08895C3-8CB9-9196-99BD-FDDD3517E4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29333" y="2534627"/>
            <a:ext cx="2933333" cy="2933333"/>
          </a:xfrm>
          <a:prstGeom prst="rect">
            <a:avLst/>
          </a:prstGeom>
          <a:noFill/>
          <a:ln>
            <a:noFill/>
          </a:ln>
        </p:spPr>
      </p:pic>
    </p:spTree>
    <p:extLst>
      <p:ext uri="{BB962C8B-B14F-4D97-AF65-F5344CB8AC3E}">
        <p14:creationId xmlns:p14="http://schemas.microsoft.com/office/powerpoint/2010/main" val="362763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2A42A-A662-102A-0EAB-D52BB6B825F0}"/>
              </a:ext>
            </a:extLst>
          </p:cNvPr>
          <p:cNvSpPr>
            <a:spLocks noGrp="1"/>
          </p:cNvSpPr>
          <p:nvPr>
            <p:ph type="title"/>
          </p:nvPr>
        </p:nvSpPr>
        <p:spPr/>
        <p:txBody>
          <a:bodyPr/>
          <a:lstStyle/>
          <a:p>
            <a:r>
              <a:rPr lang="en-US" dirty="0"/>
              <a:t>Male and female with and with out disease</a:t>
            </a:r>
            <a:endParaRPr lang="en-IN" dirty="0"/>
          </a:p>
        </p:txBody>
      </p:sp>
      <p:pic>
        <p:nvPicPr>
          <p:cNvPr id="4" name="Content Placeholder 3">
            <a:extLst>
              <a:ext uri="{FF2B5EF4-FFF2-40B4-BE49-F238E27FC236}">
                <a16:creationId xmlns:a16="http://schemas.microsoft.com/office/drawing/2014/main" id="{E44717F7-051D-224B-0A3F-08C137A3606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8063" y="2337802"/>
            <a:ext cx="5015873" cy="3326984"/>
          </a:xfrm>
          <a:prstGeom prst="rect">
            <a:avLst/>
          </a:prstGeom>
          <a:noFill/>
          <a:ln>
            <a:noFill/>
          </a:ln>
        </p:spPr>
      </p:pic>
    </p:spTree>
    <p:extLst>
      <p:ext uri="{BB962C8B-B14F-4D97-AF65-F5344CB8AC3E}">
        <p14:creationId xmlns:p14="http://schemas.microsoft.com/office/powerpoint/2010/main" val="57868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8AF1-D844-EB66-0D38-7DF572D0092E}"/>
              </a:ext>
            </a:extLst>
          </p:cNvPr>
          <p:cNvSpPr>
            <a:spLocks noGrp="1"/>
          </p:cNvSpPr>
          <p:nvPr>
            <p:ph type="title"/>
          </p:nvPr>
        </p:nvSpPr>
        <p:spPr/>
        <p:txBody>
          <a:bodyPr/>
          <a:lstStyle/>
          <a:p>
            <a:r>
              <a:rPr lang="en-US" dirty="0"/>
              <a:t>Data splitting</a:t>
            </a:r>
            <a:endParaRPr lang="en-IN" dirty="0"/>
          </a:p>
        </p:txBody>
      </p:sp>
      <p:sp>
        <p:nvSpPr>
          <p:cNvPr id="3" name="Content Placeholder 2">
            <a:extLst>
              <a:ext uri="{FF2B5EF4-FFF2-40B4-BE49-F238E27FC236}">
                <a16:creationId xmlns:a16="http://schemas.microsoft.com/office/drawing/2014/main" id="{CE7626C3-36BE-71D3-B4A1-E26739AFB7E5}"/>
              </a:ext>
            </a:extLst>
          </p:cNvPr>
          <p:cNvSpPr>
            <a:spLocks noGrp="1"/>
          </p:cNvSpPr>
          <p:nvPr>
            <p:ph idx="1"/>
          </p:nvPr>
        </p:nvSpPr>
        <p:spPr/>
        <p:txBody>
          <a:bodyPr/>
          <a:lstStyle/>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Splitting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 set is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splitted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into training and testing subsets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For training 80% data and for testing 20% of data is selected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60738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5E47-341C-32D2-DA83-7DCE6A990150}"/>
              </a:ext>
            </a:extLst>
          </p:cNvPr>
          <p:cNvSpPr>
            <a:spLocks noGrp="1"/>
          </p:cNvSpPr>
          <p:nvPr>
            <p:ph type="title"/>
          </p:nvPr>
        </p:nvSpPr>
        <p:spPr/>
        <p:txBody>
          <a:bodyPr/>
          <a:lstStyle/>
          <a:p>
            <a:r>
              <a:rPr lang="en-US" dirty="0"/>
              <a:t>Algorithms used</a:t>
            </a:r>
            <a:endParaRPr lang="en-IN" dirty="0"/>
          </a:p>
        </p:txBody>
      </p:sp>
      <p:sp>
        <p:nvSpPr>
          <p:cNvPr id="3" name="Content Placeholder 2">
            <a:extLst>
              <a:ext uri="{FF2B5EF4-FFF2-40B4-BE49-F238E27FC236}">
                <a16:creationId xmlns:a16="http://schemas.microsoft.com/office/drawing/2014/main" id="{B73E8F2D-311C-52CC-8112-7A52B9D94042}"/>
              </a:ext>
            </a:extLst>
          </p:cNvPr>
          <p:cNvSpPr>
            <a:spLocks noGrp="1"/>
          </p:cNvSpPr>
          <p:nvPr>
            <p:ph idx="1"/>
          </p:nvPr>
        </p:nvSpPr>
        <p:spPr/>
        <p:txBody>
          <a:bodyPr/>
          <a:lstStyle/>
          <a:p>
            <a:pPr>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For building machine learning model following algorithms Are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KNearest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Neighbors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Logistic Regression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Decision Tree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Naive Bayes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Support Vector Machine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Random Forest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57680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40CD-E89E-2076-0016-A84426C6E1F8}"/>
              </a:ext>
            </a:extLst>
          </p:cNvPr>
          <p:cNvSpPr>
            <a:spLocks noGrp="1"/>
          </p:cNvSpPr>
          <p:nvPr>
            <p:ph type="title"/>
          </p:nvPr>
        </p:nvSpPr>
        <p:spPr/>
        <p:txBody>
          <a:bodyPr/>
          <a:lstStyle/>
          <a:p>
            <a:r>
              <a:rPr lang="en-US" dirty="0"/>
              <a:t>GUI Implementation</a:t>
            </a:r>
            <a:endParaRPr lang="en-IN" dirty="0"/>
          </a:p>
        </p:txBody>
      </p:sp>
      <p:pic>
        <p:nvPicPr>
          <p:cNvPr id="4" name="Content Placeholder 3">
            <a:extLst>
              <a:ext uri="{FF2B5EF4-FFF2-40B4-BE49-F238E27FC236}">
                <a16:creationId xmlns:a16="http://schemas.microsoft.com/office/drawing/2014/main" id="{ED12256A-2D3F-FF51-B8E4-3BAC0EEE6F5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21956" y="1825625"/>
            <a:ext cx="8548088" cy="4351338"/>
          </a:xfrm>
          <a:prstGeom prst="rect">
            <a:avLst/>
          </a:prstGeom>
          <a:noFill/>
          <a:ln>
            <a:noFill/>
          </a:ln>
        </p:spPr>
      </p:pic>
    </p:spTree>
    <p:extLst>
      <p:ext uri="{BB962C8B-B14F-4D97-AF65-F5344CB8AC3E}">
        <p14:creationId xmlns:p14="http://schemas.microsoft.com/office/powerpoint/2010/main" val="3658992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07F2-2BAE-BA70-D031-761F0AEBA448}"/>
              </a:ext>
            </a:extLst>
          </p:cNvPr>
          <p:cNvSpPr>
            <a:spLocks noGrp="1"/>
          </p:cNvSpPr>
          <p:nvPr>
            <p:ph type="title"/>
          </p:nvPr>
        </p:nvSpPr>
        <p:spPr/>
        <p:txBody>
          <a:bodyPr/>
          <a:lstStyle/>
          <a:p>
            <a:r>
              <a:rPr lang="en-US" dirty="0"/>
              <a:t>GUI Implementation</a:t>
            </a:r>
            <a:endParaRPr lang="en-IN" dirty="0"/>
          </a:p>
        </p:txBody>
      </p:sp>
      <p:pic>
        <p:nvPicPr>
          <p:cNvPr id="4" name="Content Placeholder 3">
            <a:extLst>
              <a:ext uri="{FF2B5EF4-FFF2-40B4-BE49-F238E27FC236}">
                <a16:creationId xmlns:a16="http://schemas.microsoft.com/office/drawing/2014/main" id="{DE5D7D83-1920-0BD5-7B63-078CBF323BC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2604" y="1825625"/>
            <a:ext cx="9186791" cy="4351338"/>
          </a:xfrm>
          <a:prstGeom prst="rect">
            <a:avLst/>
          </a:prstGeom>
          <a:noFill/>
          <a:ln>
            <a:noFill/>
          </a:ln>
        </p:spPr>
      </p:pic>
    </p:spTree>
    <p:extLst>
      <p:ext uri="{BB962C8B-B14F-4D97-AF65-F5344CB8AC3E}">
        <p14:creationId xmlns:p14="http://schemas.microsoft.com/office/powerpoint/2010/main" val="1017326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CF08-C07F-8CC0-B476-0FC6FA3DC274}"/>
              </a:ext>
            </a:extLst>
          </p:cNvPr>
          <p:cNvSpPr>
            <a:spLocks noGrp="1"/>
          </p:cNvSpPr>
          <p:nvPr>
            <p:ph type="title"/>
          </p:nvPr>
        </p:nvSpPr>
        <p:spPr/>
        <p:txBody>
          <a:bodyPr/>
          <a:lstStyle/>
          <a:p>
            <a:r>
              <a:rPr lang="en-US" dirty="0"/>
              <a:t>GUI</a:t>
            </a:r>
            <a:endParaRPr lang="en-IN" dirty="0"/>
          </a:p>
        </p:txBody>
      </p:sp>
      <p:pic>
        <p:nvPicPr>
          <p:cNvPr id="4" name="Content Placeholder 3">
            <a:extLst>
              <a:ext uri="{FF2B5EF4-FFF2-40B4-BE49-F238E27FC236}">
                <a16:creationId xmlns:a16="http://schemas.microsoft.com/office/drawing/2014/main" id="{34EB9AB1-CB8D-E654-482F-7DB20067798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6341" y="1825625"/>
            <a:ext cx="9439318" cy="4351338"/>
          </a:xfrm>
          <a:prstGeom prst="rect">
            <a:avLst/>
          </a:prstGeom>
          <a:noFill/>
          <a:ln>
            <a:noFill/>
          </a:ln>
        </p:spPr>
      </p:pic>
    </p:spTree>
    <p:extLst>
      <p:ext uri="{BB962C8B-B14F-4D97-AF65-F5344CB8AC3E}">
        <p14:creationId xmlns:p14="http://schemas.microsoft.com/office/powerpoint/2010/main" val="624825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2E74-C68D-5007-4E97-93B4FF6A717B}"/>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8A6F5602-045E-2981-8A48-75F56F5D103C}"/>
              </a:ext>
            </a:extLst>
          </p:cNvPr>
          <p:cNvSpPr>
            <a:spLocks noGrp="1"/>
          </p:cNvSpPr>
          <p:nvPr>
            <p:ph idx="1"/>
          </p:nvPr>
        </p:nvSpPr>
        <p:spPr/>
        <p:txBody>
          <a:bodyPr/>
          <a:lstStyle/>
          <a:p>
            <a:pPr marL="342900" lvl="0" indent="-342900" algn="just">
              <a:lnSpc>
                <a:spcPct val="115000"/>
              </a:lnSpc>
              <a:spcAft>
                <a:spcPts val="800"/>
              </a:spcAft>
              <a:buFont typeface="Times New Roman" panose="02020603050405020304" pitchFamily="18" charset="0"/>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this project six different machine learning algorithms are  applied for prediction of heart disease.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Times New Roman" panose="02020603050405020304" pitchFamily="18" charset="0"/>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They are Logistic Regression, K-nearest Neighbours, Naïve Bayes,   Decision Tree, Random Forest and SVM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Times New Roman" panose="02020603050405020304" pitchFamily="18" charset="0"/>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Accuracy of Logistic Regression is 86.26%, K-nearest Neighbours is 85.42%, Naïve Bayes is 83.63%, Decision Tree is 83.03%, Random forest is 86.14% and SVM is 85.9%.</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Times New Roman" panose="02020603050405020304" pitchFamily="18" charset="0"/>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From the above we conclude that Logistic Regression is the best model for coronary heart disease prediction.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66031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76CD-6FB0-CAE2-E67A-890D7641741F}"/>
              </a:ext>
            </a:extLst>
          </p:cNvPr>
          <p:cNvSpPr>
            <a:spLocks noGrp="1"/>
          </p:cNvSpPr>
          <p:nvPr>
            <p:ph type="title"/>
          </p:nvPr>
        </p:nvSpPr>
        <p:spPr/>
        <p:txBody>
          <a:bodyPr/>
          <a:lstStyle/>
          <a:p>
            <a:r>
              <a:rPr lang="en-US" dirty="0"/>
              <a:t>Future Work</a:t>
            </a:r>
            <a:endParaRPr lang="en-IN" dirty="0"/>
          </a:p>
        </p:txBody>
      </p:sp>
      <p:sp>
        <p:nvSpPr>
          <p:cNvPr id="3" name="Content Placeholder 2">
            <a:extLst>
              <a:ext uri="{FF2B5EF4-FFF2-40B4-BE49-F238E27FC236}">
                <a16:creationId xmlns:a16="http://schemas.microsoft.com/office/drawing/2014/main" id="{5B421DD4-5D80-2F5D-6F45-4EE6B4A47AC7}"/>
              </a:ext>
            </a:extLst>
          </p:cNvPr>
          <p:cNvSpPr>
            <a:spLocks noGrp="1"/>
          </p:cNvSpPr>
          <p:nvPr>
            <p:ph idx="1"/>
          </p:nvPr>
        </p:nvSpPr>
        <p:spPr/>
        <p:txBody>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 this project 6 machine learning algorithms are applied for prediction of coronary heart disease .</a:t>
            </a:r>
          </a:p>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 was found that Logistic Regression performs better than other algorithms. Also a GUI is developed for prediction of heart </a:t>
            </a:r>
            <a:r>
              <a:rPr lang="en-US" sz="2400">
                <a:effectLst/>
                <a:latin typeface="Times New Roman" panose="02020603050405020304" pitchFamily="18" charset="0"/>
                <a:ea typeface="Calibri" panose="020F0502020204030204" pitchFamily="34" charset="0"/>
                <a:cs typeface="Times New Roman" panose="02020603050405020304" pitchFamily="18" charset="0"/>
              </a:rPr>
              <a:t>disease.</a:t>
            </a:r>
          </a:p>
          <a:p>
            <a:pPr algn="just"/>
            <a:r>
              <a:rPr lang="en-US" sz="240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 future artificial neural networks algorithms will be used to get better accuracy. Also a web based system will be developed so that people from different parts of world can use it.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93734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1810</Words>
  <Application>Microsoft Office PowerPoint</Application>
  <PresentationFormat>Widescreen</PresentationFormat>
  <Paragraphs>164</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Consolas</vt:lpstr>
      <vt:lpstr>Symbol</vt:lpstr>
      <vt:lpstr>Tahoma</vt:lpstr>
      <vt:lpstr>Times New Roman</vt:lpstr>
      <vt:lpstr>Wingdings</vt:lpstr>
      <vt:lpstr>Office Theme</vt:lpstr>
      <vt:lpstr>prediction Coronary Heart Disease Risk using machine learning Techniques</vt:lpstr>
      <vt:lpstr>Abstract</vt:lpstr>
      <vt:lpstr>Objective</vt:lpstr>
      <vt:lpstr>Coronary Heart Disease</vt:lpstr>
      <vt:lpstr>HOW IT DEVELOPS????</vt:lpstr>
      <vt:lpstr>Major Symptoms: </vt:lpstr>
      <vt:lpstr>PowerPoint Presentation</vt:lpstr>
      <vt:lpstr>Data Collection and Description</vt:lpstr>
      <vt:lpstr>Data Collection and Description</vt:lpstr>
      <vt:lpstr>Data Collection and Description</vt:lpstr>
      <vt:lpstr>Attribute Description</vt:lpstr>
      <vt:lpstr>Attribute Description</vt:lpstr>
      <vt:lpstr>Software Requirements</vt:lpstr>
      <vt:lpstr>System Architecture Diagram</vt:lpstr>
      <vt:lpstr>Data Preprocessing</vt:lpstr>
      <vt:lpstr>Exploratory Analysis</vt:lpstr>
      <vt:lpstr>Corelation Matrix</vt:lpstr>
      <vt:lpstr>No of people suffer from heart disease and not</vt:lpstr>
      <vt:lpstr>Pie Chart showning percentage of people with and wit out heart disease     </vt:lpstr>
      <vt:lpstr>Male and female with and with out disease</vt:lpstr>
      <vt:lpstr>Data splitting</vt:lpstr>
      <vt:lpstr>Algorithms used</vt:lpstr>
      <vt:lpstr>GUI Implementation</vt:lpstr>
      <vt:lpstr>GUI Implementation</vt:lpstr>
      <vt:lpstr>GUI</vt:lpstr>
      <vt:lpstr>Conclusion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Anticipating Coronary Heart Disease Risk with      Advanced Analytics</dc:title>
  <dc:creator>Ranjan Das</dc:creator>
  <cp:lastModifiedBy>Ranjan Das</cp:lastModifiedBy>
  <cp:revision>6</cp:revision>
  <dcterms:created xsi:type="dcterms:W3CDTF">2024-04-02T04:54:21Z</dcterms:created>
  <dcterms:modified xsi:type="dcterms:W3CDTF">2025-12-02T16:23:40Z</dcterms:modified>
</cp:coreProperties>
</file>