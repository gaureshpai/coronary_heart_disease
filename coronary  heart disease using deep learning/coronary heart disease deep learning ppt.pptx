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270" r:id="rId16"/>
    <p:sldId id="271" r:id="rId17"/>
    <p:sldId id="272" r:id="rId18"/>
    <p:sldId id="273" r:id="rId19"/>
    <p:sldId id="280" r:id="rId20"/>
    <p:sldId id="281" r:id="rId21"/>
    <p:sldId id="282" r:id="rId22"/>
    <p:sldId id="283" r:id="rId23"/>
    <p:sldId id="274" r:id="rId24"/>
    <p:sldId id="275" r:id="rId25"/>
    <p:sldId id="276" r:id="rId26"/>
    <p:sldId id="277" r:id="rId27"/>
    <p:sldId id="278" r:id="rId28"/>
    <p:sldId id="27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220" autoAdjust="0"/>
  </p:normalViewPr>
  <p:slideViewPr>
    <p:cSldViewPr snapToGrid="0">
      <p:cViewPr>
        <p:scale>
          <a:sx n="66" d="100"/>
          <a:sy n="66" d="100"/>
        </p:scale>
        <p:origin x="6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DF498-8B01-A932-CA55-A452D3BFF5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9C8DEF8-D43F-07DE-2CF4-C65A600E1A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19D683-D7E1-45A9-D05E-C80ADA74DE60}"/>
              </a:ext>
            </a:extLst>
          </p:cNvPr>
          <p:cNvSpPr>
            <a:spLocks noGrp="1"/>
          </p:cNvSpPr>
          <p:nvPr>
            <p:ph type="dt" sz="half" idx="10"/>
          </p:nvPr>
        </p:nvSpPr>
        <p:spPr/>
        <p:txBody>
          <a:bodyPr/>
          <a:lstStyle/>
          <a:p>
            <a:fld id="{3E63B65F-F92D-4C5A-9088-DC227D63FACF}" type="datetimeFigureOut">
              <a:rPr lang="en-IN" smtClean="0"/>
              <a:t>19-05-2025</a:t>
            </a:fld>
            <a:endParaRPr lang="en-IN"/>
          </a:p>
        </p:txBody>
      </p:sp>
      <p:sp>
        <p:nvSpPr>
          <p:cNvPr id="5" name="Footer Placeholder 4">
            <a:extLst>
              <a:ext uri="{FF2B5EF4-FFF2-40B4-BE49-F238E27FC236}">
                <a16:creationId xmlns:a16="http://schemas.microsoft.com/office/drawing/2014/main" id="{6FFF51C3-339E-DB4F-C33C-E1A2BD2106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146C95-053A-D1BD-F943-40F97833D324}"/>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3019694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AE53D-FF33-760A-FE27-D70A57F69B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FE8DEE-E369-633D-6E4B-16520134E7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CB5C7B-3FBC-8B3A-FDD8-952683EF6189}"/>
              </a:ext>
            </a:extLst>
          </p:cNvPr>
          <p:cNvSpPr>
            <a:spLocks noGrp="1"/>
          </p:cNvSpPr>
          <p:nvPr>
            <p:ph type="dt" sz="half" idx="10"/>
          </p:nvPr>
        </p:nvSpPr>
        <p:spPr/>
        <p:txBody>
          <a:bodyPr/>
          <a:lstStyle/>
          <a:p>
            <a:fld id="{3E63B65F-F92D-4C5A-9088-DC227D63FACF}" type="datetimeFigureOut">
              <a:rPr lang="en-IN" smtClean="0"/>
              <a:t>19-05-2025</a:t>
            </a:fld>
            <a:endParaRPr lang="en-IN"/>
          </a:p>
        </p:txBody>
      </p:sp>
      <p:sp>
        <p:nvSpPr>
          <p:cNvPr id="5" name="Footer Placeholder 4">
            <a:extLst>
              <a:ext uri="{FF2B5EF4-FFF2-40B4-BE49-F238E27FC236}">
                <a16:creationId xmlns:a16="http://schemas.microsoft.com/office/drawing/2014/main" id="{DA52AE35-5B4A-7E5C-4062-BB753036D1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342B84-0BF0-B3C2-A408-A10F396F5CD4}"/>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3365577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EC94-DC8C-D0E1-E32D-210C90A665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0C2C68-8BAD-A2A6-E051-721B5FB3E7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1C4AFD-DE85-56AB-664D-DED28394EDFC}"/>
              </a:ext>
            </a:extLst>
          </p:cNvPr>
          <p:cNvSpPr>
            <a:spLocks noGrp="1"/>
          </p:cNvSpPr>
          <p:nvPr>
            <p:ph type="dt" sz="half" idx="10"/>
          </p:nvPr>
        </p:nvSpPr>
        <p:spPr/>
        <p:txBody>
          <a:bodyPr/>
          <a:lstStyle/>
          <a:p>
            <a:fld id="{3E63B65F-F92D-4C5A-9088-DC227D63FACF}" type="datetimeFigureOut">
              <a:rPr lang="en-IN" smtClean="0"/>
              <a:t>19-05-2025</a:t>
            </a:fld>
            <a:endParaRPr lang="en-IN"/>
          </a:p>
        </p:txBody>
      </p:sp>
      <p:sp>
        <p:nvSpPr>
          <p:cNvPr id="5" name="Footer Placeholder 4">
            <a:extLst>
              <a:ext uri="{FF2B5EF4-FFF2-40B4-BE49-F238E27FC236}">
                <a16:creationId xmlns:a16="http://schemas.microsoft.com/office/drawing/2014/main" id="{1960E089-44FD-4E5E-B060-39D1AB70D7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99F0A6-C13F-18CD-E302-45F3391F22F7}"/>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3937748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36AD2-01F6-9912-348D-346E4A80ED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A5DD41A-BC8B-101A-04F8-C50074ADAE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0C7B3F3-FC9A-F23E-FBEC-DB2199D03C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9E960B-9FE2-A86D-271E-852E2A75CAFC}"/>
              </a:ext>
            </a:extLst>
          </p:cNvPr>
          <p:cNvSpPr>
            <a:spLocks noGrp="1"/>
          </p:cNvSpPr>
          <p:nvPr>
            <p:ph type="dt" sz="half" idx="10"/>
          </p:nvPr>
        </p:nvSpPr>
        <p:spPr/>
        <p:txBody>
          <a:bodyPr/>
          <a:lstStyle/>
          <a:p>
            <a:fld id="{3E63B65F-F92D-4C5A-9088-DC227D63FACF}" type="datetimeFigureOut">
              <a:rPr lang="en-IN" smtClean="0"/>
              <a:t>19-05-2025</a:t>
            </a:fld>
            <a:endParaRPr lang="en-IN"/>
          </a:p>
        </p:txBody>
      </p:sp>
      <p:sp>
        <p:nvSpPr>
          <p:cNvPr id="6" name="Footer Placeholder 5">
            <a:extLst>
              <a:ext uri="{FF2B5EF4-FFF2-40B4-BE49-F238E27FC236}">
                <a16:creationId xmlns:a16="http://schemas.microsoft.com/office/drawing/2014/main" id="{C1DABE3F-7005-91A1-F672-6E5CB8B209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98B31C-7174-B2EC-9CB4-C4D6992CE137}"/>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3816005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DE9B4-A379-E32D-5BBD-B7CC6098F6F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9F227D-7857-103F-C6CD-DFAD6FABA3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B1B4BC-0F71-0350-7F44-5CF0372DF7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06CBC1-FFD9-7096-85CB-FED558A03E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F2B220-78B7-F2CD-52C5-3DF854B1CB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AD9D2C-9381-E971-1EFB-6CAF384FBBCC}"/>
              </a:ext>
            </a:extLst>
          </p:cNvPr>
          <p:cNvSpPr>
            <a:spLocks noGrp="1"/>
          </p:cNvSpPr>
          <p:nvPr>
            <p:ph type="dt" sz="half" idx="10"/>
          </p:nvPr>
        </p:nvSpPr>
        <p:spPr/>
        <p:txBody>
          <a:bodyPr/>
          <a:lstStyle/>
          <a:p>
            <a:fld id="{3E63B65F-F92D-4C5A-9088-DC227D63FACF}" type="datetimeFigureOut">
              <a:rPr lang="en-IN" smtClean="0"/>
              <a:t>19-05-2025</a:t>
            </a:fld>
            <a:endParaRPr lang="en-IN"/>
          </a:p>
        </p:txBody>
      </p:sp>
      <p:sp>
        <p:nvSpPr>
          <p:cNvPr id="8" name="Footer Placeholder 7">
            <a:extLst>
              <a:ext uri="{FF2B5EF4-FFF2-40B4-BE49-F238E27FC236}">
                <a16:creationId xmlns:a16="http://schemas.microsoft.com/office/drawing/2014/main" id="{CB42C979-585E-337B-8572-E7D8384FD27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25C697F-9E25-4553-9627-3BC34070BF26}"/>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194965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6E4BD-D4DE-39B9-E7A4-F89270E5FA9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588FD74-15BB-43D8-ABD1-EF5A26B4E9EE}"/>
              </a:ext>
            </a:extLst>
          </p:cNvPr>
          <p:cNvSpPr>
            <a:spLocks noGrp="1"/>
          </p:cNvSpPr>
          <p:nvPr>
            <p:ph type="dt" sz="half" idx="10"/>
          </p:nvPr>
        </p:nvSpPr>
        <p:spPr/>
        <p:txBody>
          <a:bodyPr/>
          <a:lstStyle/>
          <a:p>
            <a:fld id="{3E63B65F-F92D-4C5A-9088-DC227D63FACF}" type="datetimeFigureOut">
              <a:rPr lang="en-IN" smtClean="0"/>
              <a:t>19-05-2025</a:t>
            </a:fld>
            <a:endParaRPr lang="en-IN"/>
          </a:p>
        </p:txBody>
      </p:sp>
      <p:sp>
        <p:nvSpPr>
          <p:cNvPr id="4" name="Footer Placeholder 3">
            <a:extLst>
              <a:ext uri="{FF2B5EF4-FFF2-40B4-BE49-F238E27FC236}">
                <a16:creationId xmlns:a16="http://schemas.microsoft.com/office/drawing/2014/main" id="{12DD470B-93B5-6A46-2C1E-092A01D07B3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123A90B-F112-28CA-0F97-BB8D1CBE2772}"/>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2239460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B4B611-B427-897E-7DEC-354B314C962C}"/>
              </a:ext>
            </a:extLst>
          </p:cNvPr>
          <p:cNvSpPr>
            <a:spLocks noGrp="1"/>
          </p:cNvSpPr>
          <p:nvPr>
            <p:ph type="dt" sz="half" idx="10"/>
          </p:nvPr>
        </p:nvSpPr>
        <p:spPr/>
        <p:txBody>
          <a:bodyPr/>
          <a:lstStyle/>
          <a:p>
            <a:fld id="{3E63B65F-F92D-4C5A-9088-DC227D63FACF}" type="datetimeFigureOut">
              <a:rPr lang="en-IN" smtClean="0"/>
              <a:t>19-05-2025</a:t>
            </a:fld>
            <a:endParaRPr lang="en-IN"/>
          </a:p>
        </p:txBody>
      </p:sp>
      <p:sp>
        <p:nvSpPr>
          <p:cNvPr id="3" name="Footer Placeholder 2">
            <a:extLst>
              <a:ext uri="{FF2B5EF4-FFF2-40B4-BE49-F238E27FC236}">
                <a16:creationId xmlns:a16="http://schemas.microsoft.com/office/drawing/2014/main" id="{9923E8C2-9E6F-6ADB-E1F7-9528C2214A9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BF45A52-CFBD-3226-67CD-04EA0F7FCEF6}"/>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3484504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D2A58-E107-5A23-97FC-3CCEB333D4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AD4DF55-1305-CB8A-AB3B-594D1C520B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8EA995C-4BEC-0D15-8AD7-9BFE2F0683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AA408D-DDF6-ACB2-715A-0DFBEDD69D52}"/>
              </a:ext>
            </a:extLst>
          </p:cNvPr>
          <p:cNvSpPr>
            <a:spLocks noGrp="1"/>
          </p:cNvSpPr>
          <p:nvPr>
            <p:ph type="dt" sz="half" idx="10"/>
          </p:nvPr>
        </p:nvSpPr>
        <p:spPr/>
        <p:txBody>
          <a:bodyPr/>
          <a:lstStyle/>
          <a:p>
            <a:fld id="{3E63B65F-F92D-4C5A-9088-DC227D63FACF}" type="datetimeFigureOut">
              <a:rPr lang="en-IN" smtClean="0"/>
              <a:t>19-05-2025</a:t>
            </a:fld>
            <a:endParaRPr lang="en-IN"/>
          </a:p>
        </p:txBody>
      </p:sp>
      <p:sp>
        <p:nvSpPr>
          <p:cNvPr id="6" name="Footer Placeholder 5">
            <a:extLst>
              <a:ext uri="{FF2B5EF4-FFF2-40B4-BE49-F238E27FC236}">
                <a16:creationId xmlns:a16="http://schemas.microsoft.com/office/drawing/2014/main" id="{E7197297-C251-6DF6-B3C2-0DB814C745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0F2419-F09D-1A28-5E09-5C4B66E296A5}"/>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3957676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EC33F-1A99-01BF-A3E8-229339B71F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F6A866-207B-9CDB-155F-5ED29CA8A7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92E05B5-7332-EC8A-73ED-FBAB3EE7BA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B190A2-AFFC-ED32-83C5-A36393119493}"/>
              </a:ext>
            </a:extLst>
          </p:cNvPr>
          <p:cNvSpPr>
            <a:spLocks noGrp="1"/>
          </p:cNvSpPr>
          <p:nvPr>
            <p:ph type="dt" sz="half" idx="10"/>
          </p:nvPr>
        </p:nvSpPr>
        <p:spPr/>
        <p:txBody>
          <a:bodyPr/>
          <a:lstStyle/>
          <a:p>
            <a:fld id="{3E63B65F-F92D-4C5A-9088-DC227D63FACF}" type="datetimeFigureOut">
              <a:rPr lang="en-IN" smtClean="0"/>
              <a:t>19-05-2025</a:t>
            </a:fld>
            <a:endParaRPr lang="en-IN"/>
          </a:p>
        </p:txBody>
      </p:sp>
      <p:sp>
        <p:nvSpPr>
          <p:cNvPr id="6" name="Footer Placeholder 5">
            <a:extLst>
              <a:ext uri="{FF2B5EF4-FFF2-40B4-BE49-F238E27FC236}">
                <a16:creationId xmlns:a16="http://schemas.microsoft.com/office/drawing/2014/main" id="{17DF77C5-092D-B7DE-DC91-8C87A443D4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EA26C3-0F23-34C5-E982-5A60F3FD4673}"/>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734736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A09FD-33B1-3FEC-56E4-EBDB664B727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CF38A3-25AD-5217-E440-0C6490CA46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9A2FE2-B376-7190-8E5A-C7C6AC1C4410}"/>
              </a:ext>
            </a:extLst>
          </p:cNvPr>
          <p:cNvSpPr>
            <a:spLocks noGrp="1"/>
          </p:cNvSpPr>
          <p:nvPr>
            <p:ph type="dt" sz="half" idx="10"/>
          </p:nvPr>
        </p:nvSpPr>
        <p:spPr/>
        <p:txBody>
          <a:bodyPr/>
          <a:lstStyle/>
          <a:p>
            <a:fld id="{3E63B65F-F92D-4C5A-9088-DC227D63FACF}" type="datetimeFigureOut">
              <a:rPr lang="en-IN" smtClean="0"/>
              <a:t>19-05-2025</a:t>
            </a:fld>
            <a:endParaRPr lang="en-IN"/>
          </a:p>
        </p:txBody>
      </p:sp>
      <p:sp>
        <p:nvSpPr>
          <p:cNvPr id="5" name="Footer Placeholder 4">
            <a:extLst>
              <a:ext uri="{FF2B5EF4-FFF2-40B4-BE49-F238E27FC236}">
                <a16:creationId xmlns:a16="http://schemas.microsoft.com/office/drawing/2014/main" id="{CB14FEAD-17D3-41E6-E279-43C3E773AB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64C38C-C4EF-BBEC-633F-5697A1D9F0B5}"/>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4293048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C01439-4DEA-A93A-A06A-DE82E7F0F1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1CCF26-8202-E9E4-55F4-1EF95F38E0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0C5D92-3F54-16C3-1534-E6C9B86C1CD5}"/>
              </a:ext>
            </a:extLst>
          </p:cNvPr>
          <p:cNvSpPr>
            <a:spLocks noGrp="1"/>
          </p:cNvSpPr>
          <p:nvPr>
            <p:ph type="dt" sz="half" idx="10"/>
          </p:nvPr>
        </p:nvSpPr>
        <p:spPr/>
        <p:txBody>
          <a:bodyPr/>
          <a:lstStyle/>
          <a:p>
            <a:fld id="{3E63B65F-F92D-4C5A-9088-DC227D63FACF}" type="datetimeFigureOut">
              <a:rPr lang="en-IN" smtClean="0"/>
              <a:t>19-05-2025</a:t>
            </a:fld>
            <a:endParaRPr lang="en-IN"/>
          </a:p>
        </p:txBody>
      </p:sp>
      <p:sp>
        <p:nvSpPr>
          <p:cNvPr id="5" name="Footer Placeholder 4">
            <a:extLst>
              <a:ext uri="{FF2B5EF4-FFF2-40B4-BE49-F238E27FC236}">
                <a16:creationId xmlns:a16="http://schemas.microsoft.com/office/drawing/2014/main" id="{E7A2972D-069C-F78F-EA1E-C4A4FD4773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B9AD81-9697-93F8-B0AB-77D91AD39662}"/>
              </a:ext>
            </a:extLst>
          </p:cNvPr>
          <p:cNvSpPr>
            <a:spLocks noGrp="1"/>
          </p:cNvSpPr>
          <p:nvPr>
            <p:ph type="sldNum" sz="quarter" idx="12"/>
          </p:nvPr>
        </p:nvSpPr>
        <p:spPr/>
        <p:txBody>
          <a:bodyPr/>
          <a:lstStyle/>
          <a:p>
            <a:fld id="{3E2A7AA6-CFB2-49C3-AD20-C9B5C9E611ED}" type="slidenum">
              <a:rPr lang="en-IN" smtClean="0"/>
              <a:t>‹#›</a:t>
            </a:fld>
            <a:endParaRPr lang="en-IN"/>
          </a:p>
        </p:txBody>
      </p:sp>
    </p:spTree>
    <p:extLst>
      <p:ext uri="{BB962C8B-B14F-4D97-AF65-F5344CB8AC3E}">
        <p14:creationId xmlns:p14="http://schemas.microsoft.com/office/powerpoint/2010/main" val="2219188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B7673F-3F57-4793-08DE-85B3BDE99C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AFA0D2-B203-8AD9-7721-A21AB4C1DE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DAD9E6-CAB0-7CCF-33FD-127B7D85A1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63B65F-F92D-4C5A-9088-DC227D63FACF}" type="datetimeFigureOut">
              <a:rPr lang="en-IN" smtClean="0"/>
              <a:t>19-05-2025</a:t>
            </a:fld>
            <a:endParaRPr lang="en-IN"/>
          </a:p>
        </p:txBody>
      </p:sp>
      <p:sp>
        <p:nvSpPr>
          <p:cNvPr id="5" name="Footer Placeholder 4">
            <a:extLst>
              <a:ext uri="{FF2B5EF4-FFF2-40B4-BE49-F238E27FC236}">
                <a16:creationId xmlns:a16="http://schemas.microsoft.com/office/drawing/2014/main" id="{3BB5F5CD-4934-C216-9B1D-529DEFC9F9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3CABB37-63DB-60BB-9754-64DBF1DC02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2A7AA6-CFB2-49C3-AD20-C9B5C9E611ED}" type="slidenum">
              <a:rPr lang="en-IN" smtClean="0"/>
              <a:t>‹#›</a:t>
            </a:fld>
            <a:endParaRPr lang="en-IN"/>
          </a:p>
        </p:txBody>
      </p:sp>
    </p:spTree>
    <p:extLst>
      <p:ext uri="{BB962C8B-B14F-4D97-AF65-F5344CB8AC3E}">
        <p14:creationId xmlns:p14="http://schemas.microsoft.com/office/powerpoint/2010/main" val="1236066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129F2-9571-BB75-6BCC-65F809DBDE31}"/>
              </a:ext>
            </a:extLst>
          </p:cNvPr>
          <p:cNvSpPr>
            <a:spLocks noGrp="1"/>
          </p:cNvSpPr>
          <p:nvPr>
            <p:ph type="ctrTitle"/>
          </p:nvPr>
        </p:nvSpPr>
        <p:spPr/>
        <p:txBody>
          <a:bodyPr>
            <a:normAutofit fontScale="90000"/>
          </a:bodyPr>
          <a:lstStyle/>
          <a:p>
            <a:r>
              <a:rPr lang="en-US" dirty="0"/>
              <a:t>Anticipating Coronary Heart Disease Risk using Deep Learning</a:t>
            </a:r>
            <a:endParaRPr lang="en-IN" dirty="0"/>
          </a:p>
        </p:txBody>
      </p:sp>
      <p:sp>
        <p:nvSpPr>
          <p:cNvPr id="3" name="Subtitle 2">
            <a:extLst>
              <a:ext uri="{FF2B5EF4-FFF2-40B4-BE49-F238E27FC236}">
                <a16:creationId xmlns:a16="http://schemas.microsoft.com/office/drawing/2014/main" id="{CFC545D9-DDF2-64AB-C6E1-500FA98931BB}"/>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626283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9B8D1-714A-A064-CA7B-B6640D3FE56D}"/>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A7BA0614-62DF-9C0E-CBEB-0E2C2FE5B8C8}"/>
              </a:ext>
            </a:extLst>
          </p:cNvPr>
          <p:cNvSpPr>
            <a:spLocks noGrp="1"/>
          </p:cNvSpPr>
          <p:nvPr>
            <p:ph idx="1"/>
          </p:nvPr>
        </p:nvSpPr>
        <p:spPr>
          <a:xfrm>
            <a:off x="631371" y="1306286"/>
            <a:ext cx="11255829" cy="4870677"/>
          </a:xfrm>
        </p:spPr>
        <p:txBody>
          <a:bodyPr>
            <a:normAutofit/>
          </a:bodyPr>
          <a:lstStyle/>
          <a:p>
            <a:pPr algn="just">
              <a:lnSpc>
                <a:spcPts val="2143"/>
              </a:lnSpc>
              <a:spcBef>
                <a:spcPts val="1029"/>
              </a:spcBef>
              <a:spcAft>
                <a:spcPts val="1029"/>
              </a:spcAft>
              <a:buNone/>
            </a:pPr>
            <a:r>
              <a:rPr lang="en-US" sz="1600" b="0" i="0" dirty="0">
                <a:solidFill>
                  <a:srgbClr val="404040"/>
                </a:solidFill>
                <a:effectLst/>
              </a:rPr>
              <a:t>Coronary Heart Disease (CHD) remains a leading cause of mortality worldwide, necessitating early and accurate prediction to improve patient outcomes. This project leverages deep learning techniques to predict CHD risk using the Framingham dataset, a well-established longitudinal study containing key clinical and demographic features. We implement and compare three advanced deep learning models: </a:t>
            </a:r>
            <a:r>
              <a:rPr lang="en-US" sz="1600" b="1" i="0" dirty="0">
                <a:solidFill>
                  <a:srgbClr val="404040"/>
                </a:solidFill>
                <a:effectLst/>
              </a:rPr>
              <a:t>Artificial Neural Network (ANN), 1D Convolutional Neural Network (CNN), and U-Net architecture</a:t>
            </a:r>
            <a:r>
              <a:rPr lang="en-US" sz="1600" b="0" i="0" dirty="0">
                <a:solidFill>
                  <a:srgbClr val="404040"/>
                </a:solidFill>
                <a:effectLst/>
              </a:rPr>
              <a:t>, to assess their predictive performance.</a:t>
            </a:r>
          </a:p>
          <a:p>
            <a:pPr algn="just">
              <a:lnSpc>
                <a:spcPts val="2143"/>
              </a:lnSpc>
              <a:spcBef>
                <a:spcPts val="1029"/>
              </a:spcBef>
              <a:spcAft>
                <a:spcPts val="1029"/>
              </a:spcAft>
              <a:buNone/>
            </a:pPr>
            <a:r>
              <a:rPr lang="en-US" sz="1600" b="0" i="0" dirty="0">
                <a:solidFill>
                  <a:srgbClr val="404040"/>
                </a:solidFill>
                <a:effectLst/>
              </a:rPr>
              <a:t>The ANN model processes structured risk factors such as age, cholesterol levels, and blood pressure, while the 1D CNN captures temporal and sequential patterns in patient data. The U-Net, traditionally used for image segmentation, is adapted for feature extraction and risk stratification in tabular data. Each model is evaluated based on accuracy, precision, recall, and AUC-ROC metrics to determine their effectiveness in classifying high-risk individuals.</a:t>
            </a:r>
          </a:p>
          <a:p>
            <a:pPr algn="just">
              <a:lnSpc>
                <a:spcPts val="2143"/>
              </a:lnSpc>
              <a:spcBef>
                <a:spcPts val="1029"/>
              </a:spcBef>
              <a:spcAft>
                <a:spcPts val="1029"/>
              </a:spcAft>
              <a:buNone/>
            </a:pPr>
            <a:r>
              <a:rPr lang="en-US" sz="1600" b="0" i="0" dirty="0">
                <a:solidFill>
                  <a:srgbClr val="404040"/>
                </a:solidFill>
                <a:effectLst/>
              </a:rPr>
              <a:t>Preliminary results indicate that deep learning models significantly enhance CHD prediction compared to traditional statistical methods. The 1D CNN demonstrates superior performance in handling sequential dependencies, while the U-Net’s skip-connections improve feature learning. This study highlights the potential of deep learning in improving early CHD diagnosis, paving the way for clinical decision-support systems.</a:t>
            </a:r>
          </a:p>
          <a:p>
            <a:pPr algn="just">
              <a:lnSpc>
                <a:spcPts val="2143"/>
              </a:lnSpc>
              <a:spcBef>
                <a:spcPts val="1029"/>
              </a:spcBef>
              <a:spcAft>
                <a:spcPts val="1029"/>
              </a:spcAft>
            </a:pPr>
            <a:r>
              <a:rPr lang="en-US" sz="1600" b="1" i="0" dirty="0">
                <a:solidFill>
                  <a:srgbClr val="404040"/>
                </a:solidFill>
                <a:effectLst/>
              </a:rPr>
              <a:t>Keywords</a:t>
            </a:r>
            <a:r>
              <a:rPr lang="en-US" sz="1600" b="0" i="0" dirty="0">
                <a:solidFill>
                  <a:srgbClr val="404040"/>
                </a:solidFill>
                <a:effectLst/>
              </a:rPr>
              <a:t>: Coronary Heart Disease, Deep Learning, ANN, 1D CNN, U-Net, Framingham Dataset, Predictive Modeling.</a:t>
            </a:r>
          </a:p>
          <a:p>
            <a:endParaRPr lang="en-IN" dirty="0"/>
          </a:p>
        </p:txBody>
      </p:sp>
    </p:spTree>
    <p:extLst>
      <p:ext uri="{BB962C8B-B14F-4D97-AF65-F5344CB8AC3E}">
        <p14:creationId xmlns:p14="http://schemas.microsoft.com/office/powerpoint/2010/main" val="209986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EA10D-DA14-FFDA-B928-BECBE62C7902}"/>
              </a:ext>
            </a:extLst>
          </p:cNvPr>
          <p:cNvSpPr>
            <a:spLocks noGrp="1"/>
          </p:cNvSpPr>
          <p:nvPr>
            <p:ph type="title"/>
          </p:nvPr>
        </p:nvSpPr>
        <p:spPr/>
        <p:txBody>
          <a:bodyPr>
            <a:normAutofit/>
          </a:bodyPr>
          <a:lstStyle/>
          <a:p>
            <a:r>
              <a:rPr lang="en-US" sz="4000" dirty="0">
                <a:latin typeface="Calibri" panose="020F0502020204030204" pitchFamily="34" charset="0"/>
                <a:cs typeface="Times New Roman" panose="02020603050405020304" pitchFamily="18" charset="0"/>
              </a:rPr>
              <a:t>O</a:t>
            </a:r>
            <a:r>
              <a:rPr lang="en-IN" sz="4000" dirty="0" err="1">
                <a:latin typeface="Calibri" panose="020F0502020204030204" pitchFamily="34" charset="0"/>
                <a:cs typeface="Times New Roman" panose="02020603050405020304" pitchFamily="18" charset="0"/>
              </a:rPr>
              <a:t>bjective</a:t>
            </a:r>
            <a:endParaRPr lang="en-IN" sz="4000" dirty="0"/>
          </a:p>
        </p:txBody>
      </p:sp>
      <p:sp>
        <p:nvSpPr>
          <p:cNvPr id="3" name="Content Placeholder 2">
            <a:extLst>
              <a:ext uri="{FF2B5EF4-FFF2-40B4-BE49-F238E27FC236}">
                <a16:creationId xmlns:a16="http://schemas.microsoft.com/office/drawing/2014/main" id="{27371B5B-2152-0053-A4D6-7EB981151736}"/>
              </a:ext>
            </a:extLst>
          </p:cNvPr>
          <p:cNvSpPr>
            <a:spLocks noGrp="1"/>
          </p:cNvSpPr>
          <p:nvPr>
            <p:ph idx="1"/>
          </p:nvPr>
        </p:nvSpPr>
        <p:spPr/>
        <p:txBody>
          <a:bodyPr/>
          <a:lstStyle/>
          <a:p>
            <a:pPr algn="l">
              <a:lnSpc>
                <a:spcPts val="2143"/>
              </a:lnSpc>
              <a:spcBef>
                <a:spcPts val="1029"/>
              </a:spcBef>
              <a:spcAft>
                <a:spcPts val="1029"/>
              </a:spcAft>
              <a:buFont typeface="+mj-lt"/>
              <a:buAutoNum type="arabicPeriod"/>
            </a:pPr>
            <a:r>
              <a:rPr lang="en-US" sz="2000" b="1" i="0" dirty="0">
                <a:solidFill>
                  <a:srgbClr val="404040"/>
                </a:solidFill>
                <a:effectLst/>
              </a:rPr>
              <a:t>To develop and compare deep learning models</a:t>
            </a:r>
            <a:r>
              <a:rPr lang="en-US" sz="2000" b="0" i="0" dirty="0">
                <a:solidFill>
                  <a:srgbClr val="404040"/>
                </a:solidFill>
                <a:effectLst/>
              </a:rPr>
              <a:t> (ANN, 1D CNN, and U-Net) for predicting Coronary Heart Disease (CHD) using the Framingham dataset.</a:t>
            </a:r>
          </a:p>
          <a:p>
            <a:pPr algn="l">
              <a:lnSpc>
                <a:spcPts val="2143"/>
              </a:lnSpc>
              <a:spcBef>
                <a:spcPts val="300"/>
              </a:spcBef>
              <a:spcAft>
                <a:spcPts val="1029"/>
              </a:spcAft>
              <a:buFont typeface="+mj-lt"/>
              <a:buAutoNum type="arabicPeriod"/>
            </a:pPr>
            <a:r>
              <a:rPr lang="en-US" sz="2000" b="1" i="0" dirty="0">
                <a:solidFill>
                  <a:srgbClr val="404040"/>
                </a:solidFill>
                <a:effectLst/>
              </a:rPr>
              <a:t>To preprocess and optimize the dataset</a:t>
            </a:r>
            <a:r>
              <a:rPr lang="en-US" sz="2000" b="0" i="0" dirty="0">
                <a:solidFill>
                  <a:srgbClr val="404040"/>
                </a:solidFill>
                <a:effectLst/>
              </a:rPr>
              <a:t> by handling missing values, normalizing features, and ensuring compatibility with deep learning architectures.</a:t>
            </a:r>
          </a:p>
          <a:p>
            <a:pPr>
              <a:lnSpc>
                <a:spcPts val="2143"/>
              </a:lnSpc>
              <a:spcBef>
                <a:spcPts val="300"/>
              </a:spcBef>
              <a:spcAft>
                <a:spcPts val="1029"/>
              </a:spcAft>
              <a:buFont typeface="+mj-lt"/>
              <a:buAutoNum type="arabicPeriod"/>
            </a:pPr>
            <a:r>
              <a:rPr lang="en-US" sz="2000" b="1" i="0" dirty="0">
                <a:solidFill>
                  <a:srgbClr val="404040"/>
                </a:solidFill>
                <a:effectLst/>
              </a:rPr>
              <a:t>To explore feature importance</a:t>
            </a:r>
            <a:r>
              <a:rPr lang="en-US" sz="2000" b="0" i="0" dirty="0">
                <a:solidFill>
                  <a:srgbClr val="404040"/>
                </a:solidFill>
                <a:effectLst/>
              </a:rPr>
              <a:t> in CHD prediction by analyzing how different risk factors (e.g., age, cholesterol, blood pressure) contribute to model decisions.</a:t>
            </a:r>
          </a:p>
          <a:p>
            <a:pPr>
              <a:lnSpc>
                <a:spcPts val="2143"/>
              </a:lnSpc>
              <a:spcBef>
                <a:spcPts val="300"/>
              </a:spcBef>
              <a:spcAft>
                <a:spcPts val="1029"/>
              </a:spcAft>
              <a:buFont typeface="+mj-lt"/>
              <a:buAutoNum type="arabicPeriod"/>
            </a:pPr>
            <a:r>
              <a:rPr lang="en-US" sz="2000" b="1" i="0" dirty="0">
                <a:solidFill>
                  <a:srgbClr val="404040"/>
                </a:solidFill>
                <a:effectLst/>
              </a:rPr>
              <a:t>To propose an optimized predictive framework</a:t>
            </a:r>
            <a:r>
              <a:rPr lang="en-US" sz="2000" b="0" i="0" dirty="0">
                <a:solidFill>
                  <a:srgbClr val="404040"/>
                </a:solidFill>
                <a:effectLst/>
              </a:rPr>
              <a:t> that can assist healthcare professionals in early CHD risk assessment and preventive care.</a:t>
            </a:r>
          </a:p>
          <a:p>
            <a:pPr marL="0" indent="0" algn="l">
              <a:lnSpc>
                <a:spcPts val="2143"/>
              </a:lnSpc>
              <a:spcBef>
                <a:spcPts val="300"/>
              </a:spcBef>
              <a:spcAft>
                <a:spcPts val="1029"/>
              </a:spcAft>
              <a:buNone/>
            </a:pPr>
            <a:endParaRPr lang="en-US" sz="2000" b="0" i="0" dirty="0">
              <a:solidFill>
                <a:srgbClr val="404040"/>
              </a:solidFill>
              <a:effectLst/>
            </a:endParaRPr>
          </a:p>
          <a:p>
            <a:endParaRPr lang="en-IN" dirty="0"/>
          </a:p>
        </p:txBody>
      </p:sp>
    </p:spTree>
    <p:extLst>
      <p:ext uri="{BB962C8B-B14F-4D97-AF65-F5344CB8AC3E}">
        <p14:creationId xmlns:p14="http://schemas.microsoft.com/office/powerpoint/2010/main" val="3975851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27CFA-564E-1DA2-EFD4-7B55319E5D36}"/>
              </a:ext>
            </a:extLst>
          </p:cNvPr>
          <p:cNvSpPr>
            <a:spLocks noGrp="1"/>
          </p:cNvSpPr>
          <p:nvPr>
            <p:ph type="title"/>
          </p:nvPr>
        </p:nvSpPr>
        <p:spPr/>
        <p:txBody>
          <a:bodyPr/>
          <a:lstStyle/>
          <a:p>
            <a:r>
              <a:rPr lang="en-US" dirty="0"/>
              <a:t>Data Collection and Description</a:t>
            </a:r>
            <a:endParaRPr lang="en-IN" dirty="0"/>
          </a:p>
        </p:txBody>
      </p:sp>
      <p:sp>
        <p:nvSpPr>
          <p:cNvPr id="3" name="Content Placeholder 2">
            <a:extLst>
              <a:ext uri="{FF2B5EF4-FFF2-40B4-BE49-F238E27FC236}">
                <a16:creationId xmlns:a16="http://schemas.microsoft.com/office/drawing/2014/main" id="{5BC088AB-8B6C-4122-A26B-E409B9745FDA}"/>
              </a:ext>
            </a:extLst>
          </p:cNvPr>
          <p:cNvSpPr>
            <a:spLocks noGrp="1"/>
          </p:cNvSpPr>
          <p:nvPr>
            <p:ph idx="1"/>
          </p:nvPr>
        </p:nvSpPr>
        <p:spPr/>
        <p:txBody>
          <a:bodyPr/>
          <a:lstStyle/>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This dataset is located at Kaggle website. </a:t>
            </a:r>
          </a:p>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The dataset contains 16 attributes in all, of which 15 are independent factors and one variable i.e., </a:t>
            </a:r>
            <a:r>
              <a:rPr lang="en-IN" sz="2400" dirty="0" err="1">
                <a:effectLst/>
                <a:latin typeface="Times New Roman" panose="02020603050405020304" pitchFamily="18" charset="0"/>
                <a:ea typeface="Calibri" panose="020F0502020204030204" pitchFamily="34" charset="0"/>
                <a:cs typeface="Times New Roman" panose="02020603050405020304" pitchFamily="18" charset="0"/>
              </a:rPr>
              <a:t>TenYearCHD</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is the dependent variable or target variable. </a:t>
            </a:r>
          </a:p>
          <a:p>
            <a:pPr algn="just"/>
            <a:r>
              <a:rPr lang="en-IN" sz="2400" dirty="0">
                <a:effectLst/>
                <a:latin typeface="Times New Roman" panose="02020603050405020304" pitchFamily="18" charset="0"/>
                <a:ea typeface="Calibri" panose="020F0502020204030204" pitchFamily="34" charset="0"/>
                <a:cs typeface="Times New Roman" panose="02020603050405020304" pitchFamily="18" charset="0"/>
              </a:rPr>
              <a:t>This data set contains total 4240 data. All attributes in data set are numeric.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Demographic:</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Sex: male or female (1-male  and 0-female)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Age: Age of the patient;(Continuous - Although the recorded ages have been truncated to whole numbers, the concept of age is continuous)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Education: no further information provided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65738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DBE7D-40B7-262A-70C7-13666FBEE0BD}"/>
              </a:ext>
            </a:extLst>
          </p:cNvPr>
          <p:cNvSpPr>
            <a:spLocks noGrp="1"/>
          </p:cNvSpPr>
          <p:nvPr>
            <p:ph type="title"/>
          </p:nvPr>
        </p:nvSpPr>
        <p:spPr/>
        <p:txBody>
          <a:bodyPr/>
          <a:lstStyle/>
          <a:p>
            <a:r>
              <a:rPr lang="en-US" dirty="0"/>
              <a:t>Data Collection and Description</a:t>
            </a:r>
            <a:endParaRPr lang="en-IN" dirty="0"/>
          </a:p>
        </p:txBody>
      </p:sp>
      <p:sp>
        <p:nvSpPr>
          <p:cNvPr id="3" name="Content Placeholder 2">
            <a:extLst>
              <a:ext uri="{FF2B5EF4-FFF2-40B4-BE49-F238E27FC236}">
                <a16:creationId xmlns:a16="http://schemas.microsoft.com/office/drawing/2014/main" id="{EECA9BD4-3B78-80EF-B82A-01836247FFA9}"/>
              </a:ext>
            </a:extLst>
          </p:cNvPr>
          <p:cNvSpPr>
            <a:spLocks noGrp="1"/>
          </p:cNvSpPr>
          <p:nvPr>
            <p:ph idx="1"/>
          </p:nvPr>
        </p:nvSpPr>
        <p:spPr/>
        <p:txBody>
          <a:bodyPr/>
          <a:lstStyle/>
          <a:p>
            <a:pPr algn="just">
              <a:lnSpc>
                <a:spcPct val="115000"/>
              </a:lnSpc>
              <a:spcAft>
                <a:spcPts val="800"/>
              </a:spcAft>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Behavioural: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Current Smoker: whether or not the patient is a current smoker (Nominal)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Cigs Per Day: the number of cigarettes that the person smoked on average in one day (can be considered continuous as one can have any number of cigarettes, even half a cigarette.)</a:t>
            </a:r>
            <a:endParaRPr lang="en-IN"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indent="342900" algn="just">
              <a:lnSpc>
                <a:spcPct val="115000"/>
              </a:lnSpc>
              <a:spcAft>
                <a:spcPts val="800"/>
              </a:spcAft>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Information on medical history: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BP Meds: whether or not the patient was on blood pressure medication (Nominal)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Prevalent Stroke: whether or not the patient had previously had a stroke (Nominal)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Prevalent </a:t>
            </a:r>
            <a:r>
              <a:rPr lang="en-IN" sz="1800" dirty="0" err="1">
                <a:effectLst/>
                <a:latin typeface="Times New Roman" panose="02020603050405020304" pitchFamily="18" charset="0"/>
                <a:ea typeface="Times New Roman" panose="02020603050405020304" pitchFamily="18" charset="0"/>
                <a:cs typeface="Times New Roman" panose="02020603050405020304" pitchFamily="18" charset="0"/>
              </a:rPr>
              <a:t>Hyp</a:t>
            </a: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whether or not the patient was hypertensive (Nominal)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Diabetes: whether or not the patient had diabetes (Nominal)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42545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782A4-41F0-948E-9E26-D69CD06DEA95}"/>
              </a:ext>
            </a:extLst>
          </p:cNvPr>
          <p:cNvSpPr>
            <a:spLocks noGrp="1"/>
          </p:cNvSpPr>
          <p:nvPr>
            <p:ph type="title"/>
          </p:nvPr>
        </p:nvSpPr>
        <p:spPr/>
        <p:txBody>
          <a:bodyPr/>
          <a:lstStyle/>
          <a:p>
            <a:r>
              <a:rPr lang="en-US" dirty="0"/>
              <a:t>Data Collection and Description</a:t>
            </a:r>
            <a:endParaRPr lang="en-IN" dirty="0"/>
          </a:p>
        </p:txBody>
      </p:sp>
      <p:sp>
        <p:nvSpPr>
          <p:cNvPr id="3" name="Content Placeholder 2">
            <a:extLst>
              <a:ext uri="{FF2B5EF4-FFF2-40B4-BE49-F238E27FC236}">
                <a16:creationId xmlns:a16="http://schemas.microsoft.com/office/drawing/2014/main" id="{A8642091-9573-731F-3FD8-DF9654A2917E}"/>
              </a:ext>
            </a:extLst>
          </p:cNvPr>
          <p:cNvSpPr>
            <a:spLocks noGrp="1"/>
          </p:cNvSpPr>
          <p:nvPr>
            <p:ph idx="1"/>
          </p:nvPr>
        </p:nvSpPr>
        <p:spPr/>
        <p:txBody>
          <a:bodyPr>
            <a:normAutofit fontScale="92500" lnSpcReduction="10000"/>
          </a:bodyPr>
          <a:lstStyle/>
          <a:p>
            <a:pPr algn="just">
              <a:lnSpc>
                <a:spcPct val="115000"/>
              </a:lnSpc>
              <a:spcAft>
                <a:spcPts val="800"/>
              </a:spcAft>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Information on current medical condition: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Tot Chol: total cholesterol level (Continuous)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Sys BP: systolic blood pressure (Continuous)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Dia BP: diastolic blood pressure (Continuous)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BMI: Body Mass Index (Continuous)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Heart Rate: heart rate (Continuous - In medical research, variables such as heart rate though in fact discrete, yet are considered continuous because of large number of possible values.)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Glucose: glucose level (Continuous)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IN"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Target variable to predict: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3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10year risk of coronary heart disease (CHD) - (binary: “1”, means “Yes”, “0” means “No”)</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66850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E1E20-DB43-39A8-B67D-3818679D3767}"/>
              </a:ext>
            </a:extLst>
          </p:cNvPr>
          <p:cNvSpPr>
            <a:spLocks noGrp="1"/>
          </p:cNvSpPr>
          <p:nvPr>
            <p:ph type="title"/>
          </p:nvPr>
        </p:nvSpPr>
        <p:spPr/>
        <p:txBody>
          <a:bodyPr/>
          <a:lstStyle/>
          <a:p>
            <a:r>
              <a:rPr lang="en-US" dirty="0"/>
              <a:t>Attribute Description</a:t>
            </a:r>
            <a:endParaRPr lang="en-IN" dirty="0"/>
          </a:p>
        </p:txBody>
      </p:sp>
      <p:graphicFrame>
        <p:nvGraphicFramePr>
          <p:cNvPr id="7" name="Content Placeholder 6">
            <a:extLst>
              <a:ext uri="{FF2B5EF4-FFF2-40B4-BE49-F238E27FC236}">
                <a16:creationId xmlns:a16="http://schemas.microsoft.com/office/drawing/2014/main" id="{E0DAB406-8629-4EB1-5EEA-6E5D231C84FC}"/>
              </a:ext>
            </a:extLst>
          </p:cNvPr>
          <p:cNvGraphicFramePr>
            <a:graphicFrameLocks noGrp="1"/>
          </p:cNvGraphicFramePr>
          <p:nvPr>
            <p:ph idx="1"/>
            <p:extLst>
              <p:ext uri="{D42A27DB-BD31-4B8C-83A1-F6EECF244321}">
                <p14:modId xmlns:p14="http://schemas.microsoft.com/office/powerpoint/2010/main" val="947162113"/>
              </p:ext>
            </p:extLst>
          </p:nvPr>
        </p:nvGraphicFramePr>
        <p:xfrm>
          <a:off x="1981200" y="1422400"/>
          <a:ext cx="7223760" cy="4472014"/>
        </p:xfrm>
        <a:graphic>
          <a:graphicData uri="http://schemas.openxmlformats.org/drawingml/2006/table">
            <a:tbl>
              <a:tblPr firstRow="1" firstCol="1" lastRow="1" lastCol="1" bandRow="1" bandCol="1">
                <a:tableStyleId>{5C22544A-7EE6-4342-B048-85BDC9FD1C3A}</a:tableStyleId>
              </a:tblPr>
              <a:tblGrid>
                <a:gridCol w="1436588">
                  <a:extLst>
                    <a:ext uri="{9D8B030D-6E8A-4147-A177-3AD203B41FA5}">
                      <a16:colId xmlns:a16="http://schemas.microsoft.com/office/drawing/2014/main" val="308758725"/>
                    </a:ext>
                  </a:extLst>
                </a:gridCol>
                <a:gridCol w="5787172">
                  <a:extLst>
                    <a:ext uri="{9D8B030D-6E8A-4147-A177-3AD203B41FA5}">
                      <a16:colId xmlns:a16="http://schemas.microsoft.com/office/drawing/2014/main" val="3386308455"/>
                    </a:ext>
                  </a:extLst>
                </a:gridCol>
              </a:tblGrid>
              <a:tr h="531875">
                <a:tc>
                  <a:txBody>
                    <a:bodyPr/>
                    <a:lstStyle/>
                    <a:p>
                      <a:pPr marL="75565" marR="73025" algn="ctr">
                        <a:lnSpc>
                          <a:spcPts val="1115"/>
                        </a:lnSpc>
                        <a:spcBef>
                          <a:spcPts val="175"/>
                        </a:spcBef>
                        <a:spcAft>
                          <a:spcPts val="0"/>
                        </a:spcAft>
                      </a:pPr>
                      <a:endParaRPr lang="en-US" sz="1300" dirty="0">
                        <a:effectLst/>
                      </a:endParaRPr>
                    </a:p>
                    <a:p>
                      <a:pPr marL="75565" marR="73025" algn="ctr">
                        <a:lnSpc>
                          <a:spcPts val="1115"/>
                        </a:lnSpc>
                        <a:spcBef>
                          <a:spcPts val="175"/>
                        </a:spcBef>
                        <a:spcAft>
                          <a:spcPts val="0"/>
                        </a:spcAft>
                      </a:pPr>
                      <a:r>
                        <a:rPr lang="en-US" sz="1300" dirty="0">
                          <a:effectLst/>
                        </a:rPr>
                        <a:t>Age</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endParaRPr lang="en-US" sz="1300" dirty="0">
                        <a:effectLst/>
                      </a:endParaRPr>
                    </a:p>
                    <a:p>
                      <a:pPr algn="ctr">
                        <a:lnSpc>
                          <a:spcPts val="1115"/>
                        </a:lnSpc>
                        <a:spcBef>
                          <a:spcPts val="175"/>
                        </a:spcBef>
                      </a:pPr>
                      <a:r>
                        <a:rPr lang="en-US" sz="1300" dirty="0">
                          <a:effectLst/>
                        </a:rPr>
                        <a:t>(32-70)</a:t>
                      </a:r>
                      <a:endParaRPr lang="en-IN" sz="1000" dirty="0">
                        <a:effectLst/>
                      </a:endParaRPr>
                    </a:p>
                    <a:p>
                      <a:pPr algn="ctr">
                        <a:lnSpc>
                          <a:spcPts val="1115"/>
                        </a:lnSpc>
                        <a:spcBef>
                          <a:spcPts val="175"/>
                        </a:spcBef>
                      </a:pPr>
                      <a:r>
                        <a:rPr lang="en-US" sz="1300" dirty="0">
                          <a:effectLst/>
                        </a:rPr>
                        <a:t> </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137661177"/>
                  </a:ext>
                </a:extLst>
              </a:tr>
              <a:tr h="348995">
                <a:tc>
                  <a:txBody>
                    <a:bodyPr/>
                    <a:lstStyle/>
                    <a:p>
                      <a:pPr marL="75565" marR="71755" algn="ctr">
                        <a:lnSpc>
                          <a:spcPts val="1115"/>
                        </a:lnSpc>
                        <a:spcBef>
                          <a:spcPts val="175"/>
                        </a:spcBef>
                        <a:spcAft>
                          <a:spcPts val="0"/>
                        </a:spcAft>
                      </a:pPr>
                      <a:r>
                        <a:rPr lang="en-US" sz="1300">
                          <a:effectLst/>
                        </a:rPr>
                        <a:t>Sex</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300">
                          <a:effectLst/>
                        </a:rPr>
                        <a:t>0=Female, 1=Male</a:t>
                      </a:r>
                      <a:endParaRPr lang="en-IN" sz="1000">
                        <a:effectLst/>
                      </a:endParaRPr>
                    </a:p>
                    <a:p>
                      <a:pPr algn="ctr">
                        <a:lnSpc>
                          <a:spcPts val="1115"/>
                        </a:lnSpc>
                        <a:spcBef>
                          <a:spcPts val="175"/>
                        </a:spcBef>
                      </a:pPr>
                      <a:r>
                        <a:rPr lang="en-US" sz="1300">
                          <a:effectLst/>
                        </a:rPr>
                        <a:t> </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1219022436"/>
                  </a:ext>
                </a:extLst>
              </a:tr>
              <a:tr h="995824">
                <a:tc>
                  <a:txBody>
                    <a:bodyPr/>
                    <a:lstStyle/>
                    <a:p>
                      <a:pPr marL="75565" marR="71120" algn="ctr">
                        <a:lnSpc>
                          <a:spcPts val="1115"/>
                        </a:lnSpc>
                        <a:spcBef>
                          <a:spcPts val="175"/>
                        </a:spcBef>
                        <a:spcAft>
                          <a:spcPts val="0"/>
                        </a:spcAft>
                      </a:pPr>
                      <a:r>
                        <a:rPr lang="en-US" sz="1300">
                          <a:effectLst/>
                        </a:rPr>
                        <a:t>Education</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300" dirty="0">
                          <a:effectLst/>
                        </a:rPr>
                        <a:t>It takes values as:</a:t>
                      </a:r>
                      <a:endParaRPr lang="en-IN" sz="1000" dirty="0">
                        <a:effectLst/>
                      </a:endParaRPr>
                    </a:p>
                    <a:p>
                      <a:pPr algn="ctr">
                        <a:lnSpc>
                          <a:spcPct val="115000"/>
                        </a:lnSpc>
                        <a:spcBef>
                          <a:spcPts val="175"/>
                        </a:spcBef>
                      </a:pPr>
                      <a:r>
                        <a:rPr lang="en-US" sz="1300" dirty="0">
                          <a:effectLst/>
                        </a:rPr>
                        <a:t>1=High School,</a:t>
                      </a:r>
                      <a:endParaRPr lang="en-IN" sz="1000" dirty="0">
                        <a:effectLst/>
                      </a:endParaRPr>
                    </a:p>
                    <a:p>
                      <a:pPr algn="ctr">
                        <a:lnSpc>
                          <a:spcPct val="115000"/>
                        </a:lnSpc>
                        <a:spcBef>
                          <a:spcPts val="5"/>
                        </a:spcBef>
                      </a:pPr>
                      <a:r>
                        <a:rPr lang="en-US" sz="1300" dirty="0">
                          <a:effectLst/>
                        </a:rPr>
                        <a:t>2=High School or above,</a:t>
                      </a:r>
                      <a:endParaRPr lang="en-IN" sz="1000" dirty="0">
                        <a:effectLst/>
                      </a:endParaRPr>
                    </a:p>
                    <a:p>
                      <a:pPr marR="1236980" indent="31750" algn="ctr">
                        <a:lnSpc>
                          <a:spcPts val="1140"/>
                        </a:lnSpc>
                        <a:spcBef>
                          <a:spcPts val="20"/>
                        </a:spcBef>
                        <a:spcAft>
                          <a:spcPts val="0"/>
                        </a:spcAft>
                      </a:pPr>
                      <a:r>
                        <a:rPr lang="en-US" sz="1300" dirty="0">
                          <a:effectLst/>
                        </a:rPr>
                        <a:t>                          3=College or Vocational School, 4=College</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3120687718"/>
                  </a:ext>
                </a:extLst>
              </a:tr>
              <a:tr h="934239">
                <a:tc>
                  <a:txBody>
                    <a:bodyPr/>
                    <a:lstStyle/>
                    <a:p>
                      <a:pPr marL="257175" marR="242570" indent="4445" algn="ctr">
                        <a:lnSpc>
                          <a:spcPct val="115000"/>
                        </a:lnSpc>
                        <a:spcBef>
                          <a:spcPts val="175"/>
                        </a:spcBef>
                        <a:spcAft>
                          <a:spcPts val="0"/>
                        </a:spcAft>
                      </a:pPr>
                      <a:r>
                        <a:rPr lang="en-US" sz="1300" dirty="0">
                          <a:effectLst/>
                        </a:rPr>
                        <a:t>Current Smoker</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endParaRPr lang="en-US" sz="1300" dirty="0">
                        <a:effectLst/>
                      </a:endParaRPr>
                    </a:p>
                    <a:p>
                      <a:pPr algn="ctr">
                        <a:lnSpc>
                          <a:spcPts val="1115"/>
                        </a:lnSpc>
                        <a:spcBef>
                          <a:spcPts val="175"/>
                        </a:spcBef>
                      </a:pPr>
                      <a:r>
                        <a:rPr lang="en-US" sz="1300" dirty="0">
                          <a:effectLst/>
                        </a:rPr>
                        <a:t>0=No</a:t>
                      </a:r>
                      <a:endParaRPr lang="en-IN" sz="1000" dirty="0">
                        <a:effectLst/>
                      </a:endParaRPr>
                    </a:p>
                    <a:p>
                      <a:pPr algn="ctr">
                        <a:lnSpc>
                          <a:spcPct val="115000"/>
                        </a:lnSpc>
                        <a:spcBef>
                          <a:spcPts val="175"/>
                        </a:spcBef>
                      </a:pPr>
                      <a:r>
                        <a:rPr lang="en-US" sz="1300" dirty="0">
                          <a:effectLst/>
                        </a:rPr>
                        <a:t>1=Yes</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169421264"/>
                  </a:ext>
                </a:extLst>
              </a:tr>
              <a:tr h="479784">
                <a:tc>
                  <a:txBody>
                    <a:bodyPr/>
                    <a:lstStyle/>
                    <a:p>
                      <a:pPr marL="75565" marR="69850" algn="ctr">
                        <a:lnSpc>
                          <a:spcPts val="1115"/>
                        </a:lnSpc>
                        <a:spcBef>
                          <a:spcPts val="175"/>
                        </a:spcBef>
                        <a:spcAft>
                          <a:spcPts val="0"/>
                        </a:spcAft>
                      </a:pPr>
                      <a:r>
                        <a:rPr lang="en-US" sz="1300">
                          <a:effectLst/>
                        </a:rPr>
                        <a:t>Cigs Per Day</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300" dirty="0">
                          <a:effectLst/>
                        </a:rPr>
                        <a:t>Number of Cigarettes smoked Per Day (0-70)</a:t>
                      </a:r>
                      <a:endParaRPr lang="en-IN" sz="1000" dirty="0">
                        <a:effectLst/>
                      </a:endParaRPr>
                    </a:p>
                    <a:p>
                      <a:pPr algn="ctr">
                        <a:lnSpc>
                          <a:spcPts val="1115"/>
                        </a:lnSpc>
                        <a:spcBef>
                          <a:spcPts val="175"/>
                        </a:spcBef>
                      </a:pPr>
                      <a:r>
                        <a:rPr lang="en-US" sz="1300" dirty="0">
                          <a:effectLst/>
                        </a:rPr>
                        <a:t> </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1246966956"/>
                  </a:ext>
                </a:extLst>
              </a:tr>
              <a:tr h="422658">
                <a:tc>
                  <a:txBody>
                    <a:bodyPr/>
                    <a:lstStyle/>
                    <a:p>
                      <a:pPr marL="75565" marR="68580" algn="ctr">
                        <a:lnSpc>
                          <a:spcPts val="1115"/>
                        </a:lnSpc>
                        <a:spcBef>
                          <a:spcPts val="175"/>
                        </a:spcBef>
                        <a:spcAft>
                          <a:spcPts val="0"/>
                        </a:spcAft>
                      </a:pPr>
                      <a:r>
                        <a:rPr lang="en-US" sz="1300">
                          <a:effectLst/>
                        </a:rPr>
                        <a:t>BP Meds</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300">
                          <a:effectLst/>
                        </a:rPr>
                        <a:t>0=No</a:t>
                      </a:r>
                      <a:endParaRPr lang="en-IN" sz="1000">
                        <a:effectLst/>
                      </a:endParaRPr>
                    </a:p>
                    <a:p>
                      <a:pPr algn="ctr">
                        <a:lnSpc>
                          <a:spcPct val="115000"/>
                        </a:lnSpc>
                        <a:spcBef>
                          <a:spcPts val="175"/>
                        </a:spcBef>
                      </a:pPr>
                      <a:r>
                        <a:rPr lang="en-US" sz="1300">
                          <a:effectLst/>
                        </a:rPr>
                        <a:t>1=Yes</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813861754"/>
                  </a:ext>
                </a:extLst>
              </a:tr>
              <a:tr h="758639">
                <a:tc>
                  <a:txBody>
                    <a:bodyPr/>
                    <a:lstStyle/>
                    <a:p>
                      <a:pPr marL="288925" indent="-73660" algn="ctr">
                        <a:lnSpc>
                          <a:spcPct val="115000"/>
                        </a:lnSpc>
                        <a:spcBef>
                          <a:spcPts val="175"/>
                        </a:spcBef>
                      </a:pPr>
                      <a:r>
                        <a:rPr lang="en-US" sz="1300">
                          <a:effectLst/>
                        </a:rPr>
                        <a:t>Prevalent Stroke</a:t>
                      </a:r>
                      <a:endParaRPr lang="en-IN" sz="10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300" dirty="0">
                          <a:effectLst/>
                        </a:rPr>
                        <a:t>0=No</a:t>
                      </a:r>
                      <a:endParaRPr lang="en-IN" sz="1000" dirty="0">
                        <a:effectLst/>
                      </a:endParaRPr>
                    </a:p>
                    <a:p>
                      <a:pPr algn="ctr">
                        <a:lnSpc>
                          <a:spcPct val="115000"/>
                        </a:lnSpc>
                        <a:spcBef>
                          <a:spcPts val="175"/>
                        </a:spcBef>
                      </a:pPr>
                      <a:r>
                        <a:rPr lang="en-US" sz="1300" dirty="0">
                          <a:effectLst/>
                        </a:rPr>
                        <a:t>1=Yes</a:t>
                      </a:r>
                      <a:endParaRPr lang="en-IN" sz="10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3889639547"/>
                  </a:ext>
                </a:extLst>
              </a:tr>
            </a:tbl>
          </a:graphicData>
        </a:graphic>
      </p:graphicFrame>
    </p:spTree>
    <p:extLst>
      <p:ext uri="{BB962C8B-B14F-4D97-AF65-F5344CB8AC3E}">
        <p14:creationId xmlns:p14="http://schemas.microsoft.com/office/powerpoint/2010/main" val="300551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1C713-EE34-3936-1B0C-846FF8050A50}"/>
              </a:ext>
            </a:extLst>
          </p:cNvPr>
          <p:cNvSpPr>
            <a:spLocks noGrp="1"/>
          </p:cNvSpPr>
          <p:nvPr>
            <p:ph type="title"/>
          </p:nvPr>
        </p:nvSpPr>
        <p:spPr/>
        <p:txBody>
          <a:bodyPr/>
          <a:lstStyle/>
          <a:p>
            <a:r>
              <a:rPr lang="en-US" dirty="0"/>
              <a:t>Attribute Description</a:t>
            </a:r>
            <a:endParaRPr lang="en-IN" dirty="0"/>
          </a:p>
        </p:txBody>
      </p:sp>
      <p:graphicFrame>
        <p:nvGraphicFramePr>
          <p:cNvPr id="4" name="Content Placeholder 3">
            <a:extLst>
              <a:ext uri="{FF2B5EF4-FFF2-40B4-BE49-F238E27FC236}">
                <a16:creationId xmlns:a16="http://schemas.microsoft.com/office/drawing/2014/main" id="{4A3C4DF0-AADF-3998-E8AE-E6C79A61BD8D}"/>
              </a:ext>
            </a:extLst>
          </p:cNvPr>
          <p:cNvGraphicFramePr>
            <a:graphicFrameLocks noGrp="1"/>
          </p:cNvGraphicFramePr>
          <p:nvPr>
            <p:ph idx="1"/>
            <p:extLst>
              <p:ext uri="{D42A27DB-BD31-4B8C-83A1-F6EECF244321}">
                <p14:modId xmlns:p14="http://schemas.microsoft.com/office/powerpoint/2010/main" val="2931243744"/>
              </p:ext>
            </p:extLst>
          </p:nvPr>
        </p:nvGraphicFramePr>
        <p:xfrm>
          <a:off x="2153920" y="1412240"/>
          <a:ext cx="8432800" cy="5839242"/>
        </p:xfrm>
        <a:graphic>
          <a:graphicData uri="http://schemas.openxmlformats.org/drawingml/2006/table">
            <a:tbl>
              <a:tblPr firstRow="1" firstCol="1" lastRow="1" lastCol="1" bandRow="1" bandCol="1">
                <a:tableStyleId>{5C22544A-7EE6-4342-B048-85BDC9FD1C3A}</a:tableStyleId>
              </a:tblPr>
              <a:tblGrid>
                <a:gridCol w="1677028">
                  <a:extLst>
                    <a:ext uri="{9D8B030D-6E8A-4147-A177-3AD203B41FA5}">
                      <a16:colId xmlns:a16="http://schemas.microsoft.com/office/drawing/2014/main" val="3035149605"/>
                    </a:ext>
                  </a:extLst>
                </a:gridCol>
                <a:gridCol w="6755772">
                  <a:extLst>
                    <a:ext uri="{9D8B030D-6E8A-4147-A177-3AD203B41FA5}">
                      <a16:colId xmlns:a16="http://schemas.microsoft.com/office/drawing/2014/main" val="2340909536"/>
                    </a:ext>
                  </a:extLst>
                </a:gridCol>
              </a:tblGrid>
              <a:tr h="442303">
                <a:tc>
                  <a:txBody>
                    <a:bodyPr/>
                    <a:lstStyle/>
                    <a:p>
                      <a:pPr marL="75565" marR="73660" algn="ctr">
                        <a:lnSpc>
                          <a:spcPts val="1115"/>
                        </a:lnSpc>
                        <a:spcBef>
                          <a:spcPts val="175"/>
                        </a:spcBef>
                        <a:spcAft>
                          <a:spcPts val="0"/>
                        </a:spcAft>
                      </a:pPr>
                      <a:r>
                        <a:rPr lang="en-US" sz="1400">
                          <a:effectLst/>
                        </a:rPr>
                        <a:t>Prevalent Hyp</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400">
                          <a:effectLst/>
                        </a:rPr>
                        <a:t>0=No</a:t>
                      </a:r>
                      <a:endParaRPr lang="en-IN" sz="1100">
                        <a:effectLst/>
                      </a:endParaRPr>
                    </a:p>
                    <a:p>
                      <a:pPr algn="ctr">
                        <a:lnSpc>
                          <a:spcPct val="115000"/>
                        </a:lnSpc>
                        <a:spcBef>
                          <a:spcPts val="175"/>
                        </a:spcBef>
                      </a:pPr>
                      <a:r>
                        <a:rPr lang="en-US" sz="1400">
                          <a:effectLst/>
                        </a:rPr>
                        <a:t>1=Yes</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3477655797"/>
                  </a:ext>
                </a:extLst>
              </a:tr>
              <a:tr h="490724">
                <a:tc>
                  <a:txBody>
                    <a:bodyPr/>
                    <a:lstStyle/>
                    <a:p>
                      <a:pPr marL="75565" marR="71120" algn="ctr">
                        <a:lnSpc>
                          <a:spcPts val="1125"/>
                        </a:lnSpc>
                        <a:spcBef>
                          <a:spcPts val="175"/>
                        </a:spcBef>
                        <a:spcAft>
                          <a:spcPts val="0"/>
                        </a:spcAft>
                      </a:pPr>
                      <a:r>
                        <a:rPr lang="en-US" sz="1400">
                          <a:effectLst/>
                        </a:rPr>
                        <a:t>Diabetes</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20"/>
                        </a:lnSpc>
                        <a:spcBef>
                          <a:spcPts val="175"/>
                        </a:spcBef>
                      </a:pPr>
                      <a:r>
                        <a:rPr lang="en-US" sz="1400">
                          <a:effectLst/>
                        </a:rPr>
                        <a:t>0=No</a:t>
                      </a:r>
                      <a:endParaRPr lang="en-IN" sz="1100">
                        <a:effectLst/>
                      </a:endParaRPr>
                    </a:p>
                    <a:p>
                      <a:pPr algn="ctr">
                        <a:lnSpc>
                          <a:spcPts val="1145"/>
                        </a:lnSpc>
                        <a:spcBef>
                          <a:spcPts val="175"/>
                        </a:spcBef>
                      </a:pPr>
                      <a:r>
                        <a:rPr lang="en-US" sz="1400">
                          <a:effectLst/>
                        </a:rPr>
                        <a:t>1=Yes</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95908489"/>
                  </a:ext>
                </a:extLst>
              </a:tr>
              <a:tr h="524933">
                <a:tc>
                  <a:txBody>
                    <a:bodyPr/>
                    <a:lstStyle/>
                    <a:p>
                      <a:pPr marL="75565" marR="71120" algn="ctr">
                        <a:lnSpc>
                          <a:spcPts val="1115"/>
                        </a:lnSpc>
                        <a:spcBef>
                          <a:spcPts val="175"/>
                        </a:spcBef>
                        <a:spcAft>
                          <a:spcPts val="0"/>
                        </a:spcAft>
                      </a:pPr>
                      <a:r>
                        <a:rPr lang="en-US" sz="1400">
                          <a:effectLst/>
                        </a:rPr>
                        <a:t>Tot Chol</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400">
                          <a:effectLst/>
                        </a:rPr>
                        <a:t>Serum Cholesterol (107-696) (mg/dl)</a:t>
                      </a:r>
                      <a:endParaRPr lang="en-IN" sz="1100">
                        <a:effectLst/>
                      </a:endParaRPr>
                    </a:p>
                    <a:p>
                      <a:pPr algn="ctr">
                        <a:lnSpc>
                          <a:spcPts val="1115"/>
                        </a:lnSpc>
                        <a:spcBef>
                          <a:spcPts val="175"/>
                        </a:spcBef>
                      </a:pPr>
                      <a:r>
                        <a:rPr lang="en-US" sz="1400">
                          <a:effectLst/>
                        </a:rPr>
                        <a:t> </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934367067"/>
                  </a:ext>
                </a:extLst>
              </a:tr>
              <a:tr h="626533">
                <a:tc>
                  <a:txBody>
                    <a:bodyPr/>
                    <a:lstStyle/>
                    <a:p>
                      <a:pPr marL="75565" marR="73025" algn="ctr">
                        <a:lnSpc>
                          <a:spcPts val="1090"/>
                        </a:lnSpc>
                        <a:spcBef>
                          <a:spcPts val="175"/>
                        </a:spcBef>
                        <a:spcAft>
                          <a:spcPts val="0"/>
                        </a:spcAft>
                      </a:pPr>
                      <a:r>
                        <a:rPr lang="en-US" sz="1400">
                          <a:effectLst/>
                        </a:rPr>
                        <a:t>Sys BP</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090"/>
                        </a:lnSpc>
                        <a:spcBef>
                          <a:spcPts val="175"/>
                        </a:spcBef>
                      </a:pPr>
                      <a:r>
                        <a:rPr lang="en-US" sz="1400">
                          <a:effectLst/>
                        </a:rPr>
                        <a:t>(83.5-295) (mm/hg)</a:t>
                      </a:r>
                      <a:endParaRPr lang="en-IN" sz="1100">
                        <a:effectLst/>
                      </a:endParaRPr>
                    </a:p>
                    <a:p>
                      <a:pPr algn="ctr">
                        <a:lnSpc>
                          <a:spcPts val="1090"/>
                        </a:lnSpc>
                        <a:spcBef>
                          <a:spcPts val="175"/>
                        </a:spcBef>
                      </a:pPr>
                      <a:r>
                        <a:rPr lang="en-US" sz="1400">
                          <a:effectLst/>
                        </a:rPr>
                        <a:t> </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094571063"/>
                  </a:ext>
                </a:extLst>
              </a:tr>
              <a:tr h="567267">
                <a:tc>
                  <a:txBody>
                    <a:bodyPr/>
                    <a:lstStyle/>
                    <a:p>
                      <a:pPr marL="75565" marR="71120" algn="ctr">
                        <a:lnSpc>
                          <a:spcPts val="1115"/>
                        </a:lnSpc>
                        <a:spcBef>
                          <a:spcPts val="175"/>
                        </a:spcBef>
                        <a:spcAft>
                          <a:spcPts val="0"/>
                        </a:spcAft>
                      </a:pPr>
                      <a:r>
                        <a:rPr lang="en-US" sz="1400">
                          <a:effectLst/>
                        </a:rPr>
                        <a:t>Día BP</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400">
                          <a:effectLst/>
                        </a:rPr>
                        <a:t>(48-142.5) (mm/hg)</a:t>
                      </a:r>
                      <a:endParaRPr lang="en-IN" sz="1100">
                        <a:effectLst/>
                      </a:endParaRPr>
                    </a:p>
                    <a:p>
                      <a:pPr algn="ctr">
                        <a:lnSpc>
                          <a:spcPts val="1115"/>
                        </a:lnSpc>
                        <a:spcBef>
                          <a:spcPts val="175"/>
                        </a:spcBef>
                      </a:pPr>
                      <a:r>
                        <a:rPr lang="en-US" sz="1400">
                          <a:effectLst/>
                        </a:rPr>
                        <a:t> </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934263520"/>
                  </a:ext>
                </a:extLst>
              </a:tr>
              <a:tr h="550333">
                <a:tc>
                  <a:txBody>
                    <a:bodyPr/>
                    <a:lstStyle/>
                    <a:p>
                      <a:pPr algn="ctr">
                        <a:lnSpc>
                          <a:spcPts val="1115"/>
                        </a:lnSpc>
                        <a:spcBef>
                          <a:spcPts val="175"/>
                        </a:spcBef>
                      </a:pPr>
                      <a:r>
                        <a:rPr lang="en-US" sz="1400">
                          <a:effectLst/>
                        </a:rPr>
                        <a:t>Body Mass</a:t>
                      </a:r>
                      <a:endParaRPr lang="en-IN" sz="1100">
                        <a:effectLst/>
                      </a:endParaRPr>
                    </a:p>
                    <a:p>
                      <a:pPr marL="132080" algn="ctr">
                        <a:lnSpc>
                          <a:spcPts val="1085"/>
                        </a:lnSpc>
                        <a:spcBef>
                          <a:spcPts val="175"/>
                        </a:spcBef>
                      </a:pPr>
                      <a:r>
                        <a:rPr lang="en-US" sz="1400">
                          <a:effectLst/>
                        </a:rPr>
                        <a:t>Index</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400">
                          <a:effectLst/>
                        </a:rPr>
                        <a:t>(15.54-56.8)</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630161870"/>
                  </a:ext>
                </a:extLst>
              </a:tr>
              <a:tr h="516467">
                <a:tc>
                  <a:txBody>
                    <a:bodyPr/>
                    <a:lstStyle/>
                    <a:p>
                      <a:pPr marL="75565" marR="73025" algn="ctr">
                        <a:lnSpc>
                          <a:spcPts val="1075"/>
                        </a:lnSpc>
                        <a:spcBef>
                          <a:spcPts val="175"/>
                        </a:spcBef>
                        <a:spcAft>
                          <a:spcPts val="0"/>
                        </a:spcAft>
                      </a:pPr>
                      <a:r>
                        <a:rPr lang="en-US" sz="1400">
                          <a:effectLst/>
                        </a:rPr>
                        <a:t>Heart Rate</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075"/>
                        </a:lnSpc>
                        <a:spcBef>
                          <a:spcPts val="175"/>
                        </a:spcBef>
                      </a:pPr>
                      <a:r>
                        <a:rPr lang="en-US" sz="1400">
                          <a:effectLst/>
                        </a:rPr>
                        <a:t>Heart Rate achieved (44-143)</a:t>
                      </a:r>
                      <a:endParaRPr lang="en-IN" sz="1100">
                        <a:effectLst/>
                      </a:endParaRPr>
                    </a:p>
                    <a:p>
                      <a:pPr algn="ctr">
                        <a:lnSpc>
                          <a:spcPts val="1075"/>
                        </a:lnSpc>
                        <a:spcBef>
                          <a:spcPts val="175"/>
                        </a:spcBef>
                      </a:pPr>
                      <a:r>
                        <a:rPr lang="en-US" sz="1400">
                          <a:effectLst/>
                        </a:rPr>
                        <a:t> </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350284633"/>
                  </a:ext>
                </a:extLst>
              </a:tr>
              <a:tr h="353743">
                <a:tc>
                  <a:txBody>
                    <a:bodyPr/>
                    <a:lstStyle/>
                    <a:p>
                      <a:pPr marL="75565" marR="73025" algn="ctr">
                        <a:lnSpc>
                          <a:spcPts val="1115"/>
                        </a:lnSpc>
                        <a:spcBef>
                          <a:spcPts val="175"/>
                        </a:spcBef>
                        <a:spcAft>
                          <a:spcPts val="0"/>
                        </a:spcAft>
                      </a:pPr>
                      <a:r>
                        <a:rPr lang="en-US" sz="1400">
                          <a:effectLst/>
                        </a:rPr>
                        <a:t>Glucose</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115"/>
                        </a:lnSpc>
                        <a:spcBef>
                          <a:spcPts val="175"/>
                        </a:spcBef>
                      </a:pPr>
                      <a:r>
                        <a:rPr lang="en-US" sz="1400">
                          <a:effectLst/>
                        </a:rPr>
                        <a:t>(40-394) (mg/dl)</a:t>
                      </a:r>
                      <a:endParaRPr lang="en-IN" sz="1100">
                        <a:effectLst/>
                      </a:endParaRPr>
                    </a:p>
                    <a:p>
                      <a:pPr algn="ctr">
                        <a:lnSpc>
                          <a:spcPts val="1115"/>
                        </a:lnSpc>
                        <a:spcBef>
                          <a:spcPts val="175"/>
                        </a:spcBef>
                      </a:pPr>
                      <a:r>
                        <a:rPr lang="en-US" sz="1400">
                          <a:effectLst/>
                        </a:rPr>
                        <a:t> </a:t>
                      </a:r>
                      <a:endParaRPr lang="en-IN"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40236174"/>
                  </a:ext>
                </a:extLst>
              </a:tr>
              <a:tr h="1766939">
                <a:tc>
                  <a:txBody>
                    <a:bodyPr/>
                    <a:lstStyle/>
                    <a:p>
                      <a:pPr marL="75565" marR="73025" algn="ctr">
                        <a:lnSpc>
                          <a:spcPts val="1075"/>
                        </a:lnSpc>
                        <a:spcBef>
                          <a:spcPts val="175"/>
                        </a:spcBef>
                        <a:spcAft>
                          <a:spcPts val="0"/>
                        </a:spcAft>
                      </a:pPr>
                      <a:endParaRPr lang="en-US" sz="1400" dirty="0">
                        <a:effectLst/>
                      </a:endParaRPr>
                    </a:p>
                    <a:p>
                      <a:pPr marL="75565" marR="73025" algn="ctr">
                        <a:lnSpc>
                          <a:spcPts val="1075"/>
                        </a:lnSpc>
                        <a:spcBef>
                          <a:spcPts val="175"/>
                        </a:spcBef>
                        <a:spcAft>
                          <a:spcPts val="0"/>
                        </a:spcAft>
                      </a:pPr>
                      <a:r>
                        <a:rPr lang="en-US" sz="1400" dirty="0">
                          <a:effectLst/>
                        </a:rPr>
                        <a:t>10-year CHD</a:t>
                      </a:r>
                      <a:endParaRPr lang="en-IN"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tc>
                  <a:txBody>
                    <a:bodyPr/>
                    <a:lstStyle/>
                    <a:p>
                      <a:pPr algn="ctr">
                        <a:lnSpc>
                          <a:spcPts val="1075"/>
                        </a:lnSpc>
                        <a:spcBef>
                          <a:spcPts val="175"/>
                        </a:spcBef>
                      </a:pPr>
                      <a:endParaRPr lang="en-US" sz="1400" dirty="0">
                        <a:effectLst/>
                      </a:endParaRPr>
                    </a:p>
                    <a:p>
                      <a:pPr algn="ctr">
                        <a:lnSpc>
                          <a:spcPts val="1075"/>
                        </a:lnSpc>
                        <a:spcBef>
                          <a:spcPts val="175"/>
                        </a:spcBef>
                      </a:pPr>
                      <a:endParaRPr lang="en-US" sz="1400" dirty="0">
                        <a:effectLst/>
                      </a:endParaRPr>
                    </a:p>
                    <a:p>
                      <a:pPr algn="ctr">
                        <a:lnSpc>
                          <a:spcPts val="1075"/>
                        </a:lnSpc>
                        <a:spcBef>
                          <a:spcPts val="175"/>
                        </a:spcBef>
                      </a:pPr>
                      <a:r>
                        <a:rPr lang="en-US" sz="1400" dirty="0">
                          <a:effectLst/>
                        </a:rPr>
                        <a:t>0=Healthy, 1=Diseases</a:t>
                      </a:r>
                      <a:endParaRPr lang="en-IN"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tc>
                <a:extLst>
                  <a:ext uri="{0D108BD9-81ED-4DB2-BD59-A6C34878D82A}">
                    <a16:rowId xmlns:a16="http://schemas.microsoft.com/office/drawing/2014/main" val="2972412705"/>
                  </a:ext>
                </a:extLst>
              </a:tr>
            </a:tbl>
          </a:graphicData>
        </a:graphic>
      </p:graphicFrame>
    </p:spTree>
    <p:extLst>
      <p:ext uri="{BB962C8B-B14F-4D97-AF65-F5344CB8AC3E}">
        <p14:creationId xmlns:p14="http://schemas.microsoft.com/office/powerpoint/2010/main" val="3919578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627B7-7A01-C285-6614-9DC39396829F}"/>
              </a:ext>
            </a:extLst>
          </p:cNvPr>
          <p:cNvSpPr>
            <a:spLocks noGrp="1"/>
          </p:cNvSpPr>
          <p:nvPr>
            <p:ph type="title"/>
          </p:nvPr>
        </p:nvSpPr>
        <p:spPr/>
        <p:txBody>
          <a:bodyPr/>
          <a:lstStyle/>
          <a:p>
            <a:r>
              <a:rPr lang="en-US" dirty="0"/>
              <a:t>Software Requirements</a:t>
            </a:r>
            <a:endParaRPr lang="en-IN" dirty="0"/>
          </a:p>
        </p:txBody>
      </p:sp>
      <p:sp>
        <p:nvSpPr>
          <p:cNvPr id="3" name="Content Placeholder 2">
            <a:extLst>
              <a:ext uri="{FF2B5EF4-FFF2-40B4-BE49-F238E27FC236}">
                <a16:creationId xmlns:a16="http://schemas.microsoft.com/office/drawing/2014/main" id="{3491368A-5B4F-0D70-7A55-3639033E4F41}"/>
              </a:ext>
            </a:extLst>
          </p:cNvPr>
          <p:cNvSpPr>
            <a:spLocks noGrp="1"/>
          </p:cNvSpPr>
          <p:nvPr>
            <p:ph idx="1"/>
          </p:nvPr>
        </p:nvSpPr>
        <p:spPr/>
        <p:txBody>
          <a:bodyPr>
            <a:normAutofit lnSpcReduction="10000"/>
          </a:bodyPr>
          <a:lstStyle/>
          <a:p>
            <a:pPr algn="just">
              <a:lnSpc>
                <a:spcPct val="106000"/>
              </a:lnSpc>
              <a:spcAft>
                <a:spcPts val="800"/>
              </a:spcAft>
            </a:pPr>
            <a:r>
              <a:rPr lang="en-IN" dirty="0">
                <a:effectLst/>
                <a:ea typeface="Calibri" panose="020F0502020204030204" pitchFamily="34" charset="0"/>
                <a:cs typeface="Times New Roman" panose="02020603050405020304" pitchFamily="18" charset="0"/>
              </a:rPr>
              <a:t>Python Packages to be installed</a:t>
            </a:r>
          </a:p>
          <a:p>
            <a:pPr marL="342900" lvl="0" indent="-342900" algn="just">
              <a:lnSpc>
                <a:spcPct val="115000"/>
              </a:lnSpc>
              <a:buFont typeface="Symbol" panose="05050102010706020507" pitchFamily="18" charset="2"/>
              <a:buChar char=""/>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pandas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used to provide fast, flexible and expressive data  structures to        make working with “relational” or “labeled” data both easy and intuitive.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US" sz="1800" b="1" spc="-5" dirty="0" err="1">
                <a:effectLst/>
                <a:latin typeface="Calibri" panose="020F0502020204030204" pitchFamily="34" charset="0"/>
                <a:ea typeface="Calibri" panose="020F0502020204030204" pitchFamily="34" charset="0"/>
                <a:cs typeface="Times New Roman" panose="02020603050405020304" pitchFamily="18" charset="0"/>
              </a:rPr>
              <a:t>numpy</a:t>
            </a:r>
            <a:r>
              <a:rPr lang="en-US" sz="1800" spc="-5" dirty="0">
                <a:effectLst/>
                <a:latin typeface="Times New Roman" panose="02020603050405020304" pitchFamily="18" charset="0"/>
                <a:ea typeface="Calibri" panose="020F0502020204030204" pitchFamily="34" charset="0"/>
                <a:cs typeface="Times New Roman" panose="02020603050405020304" pitchFamily="18" charset="0"/>
              </a:rPr>
              <a:t>: To work with arrays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tkinter</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used for developing Graphical User Interface (GUI).</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US" sz="1800" b="1" dirty="0" err="1">
                <a:effectLst/>
                <a:latin typeface="Times New Roman" panose="02020603050405020304" pitchFamily="18" charset="0"/>
                <a:ea typeface="Calibri" panose="020F0502020204030204" pitchFamily="34" charset="0"/>
                <a:cs typeface="Times New Roman" panose="02020603050405020304" pitchFamily="18" charset="0"/>
              </a:rPr>
              <a:t>sklearn</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efficient for data mining and data analysis. It contains a number of algorithms which can be implemented directly when required.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matplotlib</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contains modules which are used for plotting graphs.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Seaborn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used for Graphical Presentation</a:t>
            </a: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TensorFlow  and Karas ---  To implement  deep learning models</a:t>
            </a:r>
          </a:p>
          <a:p>
            <a:pPr marL="342900" lvl="0" indent="-342900" algn="just">
              <a:lnSpc>
                <a:spcPct val="115000"/>
              </a:lnSpc>
              <a:spcAft>
                <a:spcPts val="1000"/>
              </a:spcAft>
              <a:buFont typeface="Symbol" panose="05050102010706020507" pitchFamily="18" charset="2"/>
              <a:buChar char=""/>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99296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FDF1B-9EC3-07BD-CDF4-A5AD5D777C86}"/>
              </a:ext>
            </a:extLst>
          </p:cNvPr>
          <p:cNvSpPr>
            <a:spLocks noGrp="1"/>
          </p:cNvSpPr>
          <p:nvPr>
            <p:ph type="title"/>
          </p:nvPr>
        </p:nvSpPr>
        <p:spPr/>
        <p:txBody>
          <a:bodyPr/>
          <a:lstStyle/>
          <a:p>
            <a:r>
              <a:rPr lang="en-US" dirty="0"/>
              <a:t>System Architecture Diagram</a:t>
            </a:r>
            <a:endParaRPr lang="en-IN" dirty="0"/>
          </a:p>
        </p:txBody>
      </p:sp>
      <p:pic>
        <p:nvPicPr>
          <p:cNvPr id="7" name="Content Placeholder 6">
            <a:extLst>
              <a:ext uri="{FF2B5EF4-FFF2-40B4-BE49-F238E27FC236}">
                <a16:creationId xmlns:a16="http://schemas.microsoft.com/office/drawing/2014/main" id="{CB851265-5B02-4842-99E1-90B23FF5CC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0160" y="1251284"/>
            <a:ext cx="9856269" cy="5241591"/>
          </a:xfrm>
        </p:spPr>
      </p:pic>
    </p:spTree>
    <p:extLst>
      <p:ext uri="{BB962C8B-B14F-4D97-AF65-F5344CB8AC3E}">
        <p14:creationId xmlns:p14="http://schemas.microsoft.com/office/powerpoint/2010/main" val="3942639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8B5AA-CCD5-6E68-7665-19452C22CBC4}"/>
              </a:ext>
            </a:extLst>
          </p:cNvPr>
          <p:cNvSpPr>
            <a:spLocks noGrp="1"/>
          </p:cNvSpPr>
          <p:nvPr>
            <p:ph type="title"/>
          </p:nvPr>
        </p:nvSpPr>
        <p:spPr/>
        <p:txBody>
          <a:bodyPr/>
          <a:lstStyle/>
          <a:p>
            <a:r>
              <a:rPr lang="en-US" dirty="0"/>
              <a:t>Data Preprocessing</a:t>
            </a:r>
            <a:endParaRPr lang="en-IN" dirty="0"/>
          </a:p>
        </p:txBody>
      </p:sp>
      <p:sp>
        <p:nvSpPr>
          <p:cNvPr id="3" name="Content Placeholder 2">
            <a:extLst>
              <a:ext uri="{FF2B5EF4-FFF2-40B4-BE49-F238E27FC236}">
                <a16:creationId xmlns:a16="http://schemas.microsoft.com/office/drawing/2014/main" id="{8E530A67-82C1-87BC-3E62-BF985EE9014E}"/>
              </a:ext>
            </a:extLst>
          </p:cNvPr>
          <p:cNvSpPr>
            <a:spLocks noGrp="1"/>
          </p:cNvSpPr>
          <p:nvPr>
            <p:ph idx="1"/>
          </p:nvPr>
        </p:nvSpPr>
        <p:spPr/>
        <p:txBody>
          <a:bodyPr>
            <a:normAutofit lnSpcReduction="10000"/>
          </a:bodyPr>
          <a:lstStyle/>
          <a:p>
            <a:pPr marR="24130" indent="182245" algn="just">
              <a:lnSpc>
                <a:spcPct val="95000"/>
              </a:lnSpc>
              <a:spcBef>
                <a:spcPts val="565"/>
              </a:spcBef>
              <a:spcAft>
                <a:spcPts val="0"/>
              </a:spcAft>
            </a:pPr>
            <a:r>
              <a:rPr lang="en-US" sz="1800" dirty="0">
                <a:effectLst/>
                <a:latin typeface="Calibri" panose="020F0502020204030204" pitchFamily="34" charset="0"/>
                <a:ea typeface="Calibri" panose="020F0502020204030204" pitchFamily="34" charset="0"/>
              </a:rPr>
              <a:t>Data</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preprocessing</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is</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a</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group</a:t>
            </a:r>
            <a:r>
              <a:rPr lang="en-US" sz="1800" spc="-20"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of</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techniques</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that</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are</a:t>
            </a:r>
            <a:r>
              <a:rPr lang="en-US" sz="1800" spc="-25" dirty="0">
                <a:effectLst/>
                <a:latin typeface="Calibri" panose="020F0502020204030204" pitchFamily="34" charset="0"/>
                <a:ea typeface="Calibri" panose="020F0502020204030204" pitchFamily="34" charset="0"/>
              </a:rPr>
              <a:t> </a:t>
            </a:r>
            <a:r>
              <a:rPr lang="en-US" sz="1800" dirty="0">
                <a:effectLst/>
                <a:latin typeface="Calibri" panose="020F0502020204030204" pitchFamily="34" charset="0"/>
                <a:ea typeface="Calibri" panose="020F0502020204030204" pitchFamily="34" charset="0"/>
              </a:rPr>
              <a:t>applied </a:t>
            </a:r>
            <a:r>
              <a:rPr lang="en-US" sz="1800" spc="-235" dirty="0">
                <a:effectLst/>
                <a:latin typeface="Calibri" panose="020F0502020204030204" pitchFamily="34" charset="0"/>
                <a:ea typeface="Calibri" panose="020F0502020204030204" pitchFamily="34" charset="0"/>
              </a:rPr>
              <a:t>on</a:t>
            </a:r>
            <a:r>
              <a:rPr lang="en-US" sz="1800" dirty="0">
                <a:effectLst/>
                <a:latin typeface="Calibri" panose="020F0502020204030204" pitchFamily="34" charset="0"/>
                <a:ea typeface="Calibri" panose="020F0502020204030204" pitchFamily="34" charset="0"/>
              </a:rPr>
              <a:t> the data to improve the quality of the data. Raw data can be converted to useful data. It uses various techniques such as handling missing values, detecting outliers, removing un wanted attributes etc. </a:t>
            </a:r>
            <a:endParaRPr lang="en-IN" sz="1800" dirty="0">
              <a:effectLst/>
              <a:latin typeface="Calibri" panose="020F0502020204030204" pitchFamily="34" charset="0"/>
              <a:ea typeface="Calibri" panose="020F0502020204030204" pitchFamily="34" charset="0"/>
            </a:endParaRPr>
          </a:p>
          <a:p>
            <a:pPr marR="24130" indent="182245" algn="just">
              <a:lnSpc>
                <a:spcPct val="95000"/>
              </a:lnSpc>
              <a:spcBef>
                <a:spcPts val="565"/>
              </a:spcBef>
              <a:spcAft>
                <a:spcPts val="0"/>
              </a:spcAft>
            </a:pPr>
            <a:r>
              <a:rPr lang="en-US" sz="1800" dirty="0">
                <a:effectLst/>
                <a:latin typeface="Calibri" panose="020F0502020204030204" pitchFamily="34" charset="0"/>
                <a:ea typeface="Calibri" panose="020F0502020204030204" pitchFamily="34" charset="0"/>
              </a:rPr>
              <a:t>                   Once data is cleaned then it can be used in machine learning models for training. Data preprocessing is one of the most important steps involved in predictive modelling.</a:t>
            </a:r>
            <a:endParaRPr lang="en-IN" sz="1800" dirty="0">
              <a:effectLst/>
              <a:latin typeface="Calibri" panose="020F0502020204030204" pitchFamily="34" charset="0"/>
              <a:ea typeface="Calibri" panose="020F0502020204030204" pitchFamily="34" charset="0"/>
            </a:endParaRPr>
          </a:p>
          <a:p>
            <a:pPr marR="24130" indent="182245" algn="just">
              <a:lnSpc>
                <a:spcPct val="95000"/>
              </a:lnSpc>
              <a:spcBef>
                <a:spcPts val="565"/>
              </a:spcBef>
              <a:spcAft>
                <a:spcPts val="0"/>
              </a:spcAft>
            </a:pPr>
            <a:r>
              <a:rPr lang="en-US" sz="1800" b="1" dirty="0">
                <a:effectLst/>
                <a:latin typeface="Calibri" panose="020F0502020204030204" pitchFamily="34" charset="0"/>
                <a:ea typeface="Calibri" panose="020F0502020204030204" pitchFamily="34" charset="0"/>
              </a:rPr>
              <a:t>Steps followed in data preprocessing</a:t>
            </a:r>
            <a:endParaRPr lang="en-IN" sz="1800" dirty="0">
              <a:effectLst/>
              <a:latin typeface="Calibri" panose="020F0502020204030204" pitchFamily="34" charset="0"/>
              <a:ea typeface="Calibri" panose="020F0502020204030204" pitchFamily="34" charset="0"/>
            </a:endParaRPr>
          </a:p>
          <a:p>
            <a:pPr marL="342900" marR="24130" lvl="0" indent="-342900" algn="just">
              <a:lnSpc>
                <a:spcPct val="95000"/>
              </a:lnSpc>
              <a:spcBef>
                <a:spcPts val="565"/>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Education column is removed as it has no relation with heart disease</a:t>
            </a:r>
            <a:endParaRPr lang="en-IN" sz="1800" dirty="0">
              <a:effectLst/>
              <a:latin typeface="Calibri" panose="020F0502020204030204" pitchFamily="34" charset="0"/>
              <a:ea typeface="Calibri" panose="020F0502020204030204" pitchFamily="34" charset="0"/>
            </a:endParaRPr>
          </a:p>
          <a:p>
            <a:pPr marL="342900" marR="24130" lvl="0" indent="-342900" algn="just">
              <a:lnSpc>
                <a:spcPct val="95000"/>
              </a:lnSpc>
              <a:spcBef>
                <a:spcPts val="565"/>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Most corelated features are found by using correlation matrix(heatmap).</a:t>
            </a:r>
            <a:endParaRPr lang="en-IN" sz="1800" dirty="0">
              <a:effectLst/>
              <a:latin typeface="Calibri" panose="020F0502020204030204" pitchFamily="34" charset="0"/>
              <a:ea typeface="Calibri" panose="020F0502020204030204" pitchFamily="34" charset="0"/>
            </a:endParaRPr>
          </a:p>
          <a:p>
            <a:pPr marL="457200" marR="24130" algn="just">
              <a:lnSpc>
                <a:spcPct val="95000"/>
              </a:lnSpc>
              <a:spcBef>
                <a:spcPts val="565"/>
              </a:spcBef>
              <a:spcAft>
                <a:spcPts val="0"/>
              </a:spcAft>
            </a:pPr>
            <a:r>
              <a:rPr lang="en-US" sz="1800" dirty="0" err="1">
                <a:effectLst/>
                <a:latin typeface="Calibri" panose="020F0502020204030204" pitchFamily="34" charset="0"/>
                <a:ea typeface="Calibri" panose="020F0502020204030204" pitchFamily="34" charset="0"/>
              </a:rPr>
              <a:t>Sysbp</a:t>
            </a:r>
            <a:r>
              <a:rPr lang="en-US" sz="1800" dirty="0">
                <a:effectLst/>
                <a:latin typeface="Calibri" panose="020F0502020204030204" pitchFamily="34" charset="0"/>
                <a:ea typeface="Calibri" panose="020F0502020204030204" pitchFamily="34" charset="0"/>
              </a:rPr>
              <a:t> and </a:t>
            </a:r>
            <a:r>
              <a:rPr lang="en-US" sz="1800" dirty="0" err="1">
                <a:effectLst/>
                <a:latin typeface="Calibri" panose="020F0502020204030204" pitchFamily="34" charset="0"/>
                <a:ea typeface="Calibri" panose="020F0502020204030204" pitchFamily="34" charset="0"/>
              </a:rPr>
              <a:t>Diabp</a:t>
            </a:r>
            <a:r>
              <a:rPr lang="en-US" sz="1800" dirty="0">
                <a:effectLst/>
                <a:latin typeface="Calibri" panose="020F0502020204030204" pitchFamily="34" charset="0"/>
                <a:ea typeface="Calibri" panose="020F0502020204030204" pitchFamily="34" charset="0"/>
              </a:rPr>
              <a:t> are highly corelated</a:t>
            </a:r>
            <a:endParaRPr lang="en-IN" sz="1800" dirty="0">
              <a:effectLst/>
              <a:latin typeface="Calibri" panose="020F0502020204030204" pitchFamily="34" charset="0"/>
              <a:ea typeface="Calibri" panose="020F0502020204030204" pitchFamily="34" charset="0"/>
            </a:endParaRPr>
          </a:p>
          <a:p>
            <a:pPr marL="457200" marR="24130" algn="just">
              <a:lnSpc>
                <a:spcPct val="95000"/>
              </a:lnSpc>
              <a:spcBef>
                <a:spcPts val="565"/>
              </a:spcBef>
              <a:spcAft>
                <a:spcPts val="0"/>
              </a:spcAft>
            </a:pPr>
            <a:r>
              <a:rPr lang="en-US" sz="1800" dirty="0">
                <a:effectLst/>
                <a:latin typeface="Calibri" panose="020F0502020204030204" pitchFamily="34" charset="0"/>
                <a:ea typeface="Calibri" panose="020F0502020204030204" pitchFamily="34" charset="0"/>
              </a:rPr>
              <a:t>Current smoker and </a:t>
            </a:r>
            <a:r>
              <a:rPr lang="en-US" sz="1800" dirty="0" err="1">
                <a:effectLst/>
                <a:latin typeface="Calibri" panose="020F0502020204030204" pitchFamily="34" charset="0"/>
                <a:ea typeface="Calibri" panose="020F0502020204030204" pitchFamily="34" charset="0"/>
              </a:rPr>
              <a:t>Cigsperday</a:t>
            </a:r>
            <a:r>
              <a:rPr lang="en-US" sz="1800" dirty="0">
                <a:effectLst/>
                <a:latin typeface="Calibri" panose="020F0502020204030204" pitchFamily="34" charset="0"/>
                <a:ea typeface="Calibri" panose="020F0502020204030204" pitchFamily="34" charset="0"/>
              </a:rPr>
              <a:t> are highly corelated.so only one of them is                    selected.</a:t>
            </a:r>
            <a:endParaRPr lang="en-IN" sz="1800" dirty="0">
              <a:effectLst/>
              <a:latin typeface="Calibri" panose="020F0502020204030204" pitchFamily="34" charset="0"/>
              <a:ea typeface="Calibri" panose="020F0502020204030204" pitchFamily="34" charset="0"/>
            </a:endParaRPr>
          </a:p>
          <a:p>
            <a:pPr marL="342900" marR="24130" lvl="0" indent="-342900" algn="just">
              <a:lnSpc>
                <a:spcPct val="95000"/>
              </a:lnSpc>
              <a:spcBef>
                <a:spcPts val="565"/>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Missing values are handled by imputation .</a:t>
            </a:r>
            <a:endParaRPr lang="en-IN" sz="1800" dirty="0">
              <a:effectLst/>
              <a:latin typeface="Calibri" panose="020F0502020204030204" pitchFamily="34" charset="0"/>
              <a:ea typeface="Calibri" panose="020F0502020204030204" pitchFamily="34" charset="0"/>
            </a:endParaRPr>
          </a:p>
          <a:p>
            <a:pPr marL="342900" marR="24130" lvl="0" indent="-342900" algn="just">
              <a:lnSpc>
                <a:spcPct val="95000"/>
              </a:lnSpc>
              <a:spcBef>
                <a:spcPts val="565"/>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Outliers found and removed.</a:t>
            </a:r>
            <a:endParaRPr lang="en-IN" sz="1800" dirty="0">
              <a:effectLst/>
              <a:latin typeface="Calibri" panose="020F0502020204030204" pitchFamily="34" charset="0"/>
              <a:ea typeface="Calibri" panose="020F0502020204030204" pitchFamily="34" charset="0"/>
            </a:endParaRPr>
          </a:p>
          <a:p>
            <a:pPr marL="342900" marR="24130" lvl="0" indent="-342900" algn="just">
              <a:lnSpc>
                <a:spcPct val="95000"/>
              </a:lnSpc>
              <a:spcBef>
                <a:spcPts val="565"/>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Duplicated rows removed.</a:t>
            </a:r>
            <a:endParaRPr lang="en-IN" sz="1800" dirty="0">
              <a:effectLst/>
              <a:latin typeface="Calibri" panose="020F0502020204030204" pitchFamily="34" charset="0"/>
              <a:ea typeface="Calibri" panose="020F0502020204030204" pitchFamily="34" charset="0"/>
            </a:endParaRPr>
          </a:p>
          <a:p>
            <a:pPr marL="342900" marR="24130" lvl="0" indent="-342900" algn="just">
              <a:lnSpc>
                <a:spcPct val="95000"/>
              </a:lnSpc>
              <a:spcBef>
                <a:spcPts val="565"/>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rPr>
              <a:t>Features have been standardized by using Standard Scaler .</a:t>
            </a:r>
            <a:endParaRPr lang="en-IN" sz="1800" dirty="0">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2515543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4130C-45E4-E4D8-434C-DB0B485C4BEE}"/>
              </a:ext>
            </a:extLst>
          </p:cNvPr>
          <p:cNvSpPr>
            <a:spLocks noGrp="1"/>
          </p:cNvSpPr>
          <p:nvPr>
            <p:ph type="title"/>
          </p:nvPr>
        </p:nvSpPr>
        <p:spPr/>
        <p:txBody>
          <a:bodyPr>
            <a:normAutofit/>
          </a:bodyPr>
          <a:lstStyle/>
          <a:p>
            <a:r>
              <a:rPr lang="en-IN" sz="3200" b="1" dirty="0">
                <a:effectLst/>
                <a:latin typeface="Calibri" panose="020F0502020204030204" pitchFamily="34" charset="0"/>
                <a:ea typeface="Calibri" panose="020F0502020204030204" pitchFamily="34" charset="0"/>
                <a:cs typeface="Times New Roman" panose="02020603050405020304" pitchFamily="18" charset="0"/>
              </a:rPr>
              <a:t>Exploratory </a:t>
            </a:r>
            <a:r>
              <a:rPr lang="en-IN" sz="3200" b="1" dirty="0">
                <a:latin typeface="Calibri" panose="020F0502020204030204" pitchFamily="34" charset="0"/>
                <a:ea typeface="Calibri" panose="020F0502020204030204" pitchFamily="34" charset="0"/>
                <a:cs typeface="Times New Roman" panose="02020603050405020304" pitchFamily="18" charset="0"/>
              </a:rPr>
              <a:t>A</a:t>
            </a:r>
            <a:r>
              <a:rPr lang="en-IN" sz="3200" b="1" dirty="0">
                <a:effectLst/>
                <a:latin typeface="Calibri" panose="020F0502020204030204" pitchFamily="34" charset="0"/>
                <a:ea typeface="Calibri" panose="020F0502020204030204" pitchFamily="34" charset="0"/>
                <a:cs typeface="Times New Roman" panose="02020603050405020304" pitchFamily="18" charset="0"/>
              </a:rPr>
              <a:t>nalysis</a:t>
            </a:r>
            <a:endParaRPr lang="en-IN" sz="3200" dirty="0"/>
          </a:p>
        </p:txBody>
      </p:sp>
      <p:sp>
        <p:nvSpPr>
          <p:cNvPr id="3" name="Content Placeholder 2">
            <a:extLst>
              <a:ext uri="{FF2B5EF4-FFF2-40B4-BE49-F238E27FC236}">
                <a16:creationId xmlns:a16="http://schemas.microsoft.com/office/drawing/2014/main" id="{F72C0923-ACDA-B9F5-A6B0-ADB8DF7D1913}"/>
              </a:ext>
            </a:extLst>
          </p:cNvPr>
          <p:cNvSpPr>
            <a:spLocks noGrp="1"/>
          </p:cNvSpPr>
          <p:nvPr>
            <p:ph idx="1"/>
          </p:nvPr>
        </p:nvSpPr>
        <p:spPr/>
        <p:txBody>
          <a:bodyPr/>
          <a:lstStyle/>
          <a:p>
            <a:r>
              <a:rPr lang="en-IN" sz="1800" b="1" spc="10" dirty="0">
                <a:solidFill>
                  <a:srgbClr val="273239"/>
                </a:solidFill>
                <a:effectLst/>
                <a:latin typeface="Calibri" panose="020F0502020204030204" pitchFamily="34" charset="0"/>
                <a:ea typeface="Calibri" panose="020F0502020204030204" pitchFamily="34" charset="0"/>
                <a:cs typeface="Times New Roman" panose="02020603050405020304" pitchFamily="18" charset="0"/>
              </a:rPr>
              <a:t>Exploratory Data Analysis (EDA) </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is an approach to analyse the data using visual techniques. It is used to discover trends, patterns, or to check assumptions with the help of statistical summary and graphical representations.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59561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350F7-D1B2-6536-68A6-6DFCD1D15C26}"/>
              </a:ext>
            </a:extLst>
          </p:cNvPr>
          <p:cNvSpPr>
            <a:spLocks noGrp="1"/>
          </p:cNvSpPr>
          <p:nvPr>
            <p:ph type="title"/>
          </p:nvPr>
        </p:nvSpPr>
        <p:spPr/>
        <p:txBody>
          <a:bodyPr/>
          <a:lstStyle/>
          <a:p>
            <a:r>
              <a:rPr lang="en-US" dirty="0" err="1"/>
              <a:t>Corelation</a:t>
            </a:r>
            <a:r>
              <a:rPr lang="en-US" dirty="0"/>
              <a:t> Matrix</a:t>
            </a:r>
            <a:endParaRPr lang="en-IN" dirty="0"/>
          </a:p>
        </p:txBody>
      </p:sp>
      <p:pic>
        <p:nvPicPr>
          <p:cNvPr id="4" name="Content Placeholder 3">
            <a:extLst>
              <a:ext uri="{FF2B5EF4-FFF2-40B4-BE49-F238E27FC236}">
                <a16:creationId xmlns:a16="http://schemas.microsoft.com/office/drawing/2014/main" id="{4E12AD38-6F08-A3FF-4E7A-EFEB537D2C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7680" y="1574800"/>
            <a:ext cx="8300720" cy="4602163"/>
          </a:xfrm>
          <a:prstGeom prst="rect">
            <a:avLst/>
          </a:prstGeom>
        </p:spPr>
      </p:pic>
    </p:spTree>
    <p:extLst>
      <p:ext uri="{BB962C8B-B14F-4D97-AF65-F5344CB8AC3E}">
        <p14:creationId xmlns:p14="http://schemas.microsoft.com/office/powerpoint/2010/main" val="3047484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684F0-E8BF-810C-BDB1-42F2C65717F9}"/>
              </a:ext>
            </a:extLst>
          </p:cNvPr>
          <p:cNvSpPr>
            <a:spLocks noGrp="1"/>
          </p:cNvSpPr>
          <p:nvPr>
            <p:ph type="title"/>
          </p:nvPr>
        </p:nvSpPr>
        <p:spPr/>
        <p:txBody>
          <a:bodyPr/>
          <a:lstStyle/>
          <a:p>
            <a:r>
              <a:rPr lang="en-US" dirty="0"/>
              <a:t>No of people suffer from heart disease and not</a:t>
            </a:r>
            <a:endParaRPr lang="en-IN" dirty="0"/>
          </a:p>
        </p:txBody>
      </p:sp>
      <p:pic>
        <p:nvPicPr>
          <p:cNvPr id="4" name="Content Placeholder 3">
            <a:extLst>
              <a:ext uri="{FF2B5EF4-FFF2-40B4-BE49-F238E27FC236}">
                <a16:creationId xmlns:a16="http://schemas.microsoft.com/office/drawing/2014/main" id="{5D944035-6237-3ED8-9DC2-BCFAC548E18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88063" y="2337802"/>
            <a:ext cx="5015873" cy="3326984"/>
          </a:xfrm>
          <a:prstGeom prst="rect">
            <a:avLst/>
          </a:prstGeom>
          <a:noFill/>
          <a:ln>
            <a:noFill/>
          </a:ln>
        </p:spPr>
      </p:pic>
    </p:spTree>
    <p:extLst>
      <p:ext uri="{BB962C8B-B14F-4D97-AF65-F5344CB8AC3E}">
        <p14:creationId xmlns:p14="http://schemas.microsoft.com/office/powerpoint/2010/main" val="309813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1D42B-A7BD-D886-172B-748591B39B49}"/>
              </a:ext>
            </a:extLst>
          </p:cNvPr>
          <p:cNvSpPr>
            <a:spLocks noGrp="1"/>
          </p:cNvSpPr>
          <p:nvPr>
            <p:ph type="title"/>
          </p:nvPr>
        </p:nvSpPr>
        <p:spPr/>
        <p:txBody>
          <a:bodyPr/>
          <a:lstStyle/>
          <a:p>
            <a:r>
              <a:rPr lang="en-IN" sz="1800" b="1" dirty="0">
                <a:effectLst/>
                <a:latin typeface="Calibri" panose="020F0502020204030204" pitchFamily="34" charset="0"/>
                <a:ea typeface="Calibri" panose="020F0502020204030204" pitchFamily="34" charset="0"/>
                <a:cs typeface="Times New Roman" panose="02020603050405020304" pitchFamily="18" charset="0"/>
              </a:rPr>
              <a:t>Pie Chart </a:t>
            </a:r>
            <a:r>
              <a:rPr lang="en-IN" sz="1800" b="1" dirty="0" err="1">
                <a:effectLst/>
                <a:latin typeface="Calibri" panose="020F0502020204030204" pitchFamily="34" charset="0"/>
                <a:ea typeface="Calibri" panose="020F0502020204030204" pitchFamily="34" charset="0"/>
                <a:cs typeface="Times New Roman" panose="02020603050405020304" pitchFamily="18" charset="0"/>
              </a:rPr>
              <a:t>showning</a:t>
            </a:r>
            <a:r>
              <a:rPr lang="en-IN" sz="1800" b="1" dirty="0">
                <a:effectLst/>
                <a:latin typeface="Calibri" panose="020F0502020204030204" pitchFamily="34" charset="0"/>
                <a:ea typeface="Calibri" panose="020F0502020204030204" pitchFamily="34" charset="0"/>
                <a:cs typeface="Times New Roman" panose="02020603050405020304" pitchFamily="18" charset="0"/>
              </a:rPr>
              <a:t> percentage of people with and wit out heart disease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pic>
        <p:nvPicPr>
          <p:cNvPr id="4" name="Content Placeholder 3">
            <a:extLst>
              <a:ext uri="{FF2B5EF4-FFF2-40B4-BE49-F238E27FC236}">
                <a16:creationId xmlns:a16="http://schemas.microsoft.com/office/drawing/2014/main" id="{F08895C3-8CB9-9196-99BD-FDDD3517E40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29333" y="2534627"/>
            <a:ext cx="2933333" cy="2933333"/>
          </a:xfrm>
          <a:prstGeom prst="rect">
            <a:avLst/>
          </a:prstGeom>
          <a:noFill/>
          <a:ln>
            <a:noFill/>
          </a:ln>
        </p:spPr>
      </p:pic>
    </p:spTree>
    <p:extLst>
      <p:ext uri="{BB962C8B-B14F-4D97-AF65-F5344CB8AC3E}">
        <p14:creationId xmlns:p14="http://schemas.microsoft.com/office/powerpoint/2010/main" val="362763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2A42A-A662-102A-0EAB-D52BB6B825F0}"/>
              </a:ext>
            </a:extLst>
          </p:cNvPr>
          <p:cNvSpPr>
            <a:spLocks noGrp="1"/>
          </p:cNvSpPr>
          <p:nvPr>
            <p:ph type="title"/>
          </p:nvPr>
        </p:nvSpPr>
        <p:spPr/>
        <p:txBody>
          <a:bodyPr/>
          <a:lstStyle/>
          <a:p>
            <a:r>
              <a:rPr lang="en-US" dirty="0"/>
              <a:t>Male and female with and with out disease</a:t>
            </a:r>
            <a:endParaRPr lang="en-IN" dirty="0"/>
          </a:p>
        </p:txBody>
      </p:sp>
      <p:pic>
        <p:nvPicPr>
          <p:cNvPr id="4" name="Content Placeholder 3">
            <a:extLst>
              <a:ext uri="{FF2B5EF4-FFF2-40B4-BE49-F238E27FC236}">
                <a16:creationId xmlns:a16="http://schemas.microsoft.com/office/drawing/2014/main" id="{E44717F7-051D-224B-0A3F-08C137A3606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88063" y="2337802"/>
            <a:ext cx="5015873" cy="3326984"/>
          </a:xfrm>
          <a:prstGeom prst="rect">
            <a:avLst/>
          </a:prstGeom>
          <a:noFill/>
          <a:ln>
            <a:noFill/>
          </a:ln>
        </p:spPr>
      </p:pic>
    </p:spTree>
    <p:extLst>
      <p:ext uri="{BB962C8B-B14F-4D97-AF65-F5344CB8AC3E}">
        <p14:creationId xmlns:p14="http://schemas.microsoft.com/office/powerpoint/2010/main" val="57868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38AF1-D844-EB66-0D38-7DF572D0092E}"/>
              </a:ext>
            </a:extLst>
          </p:cNvPr>
          <p:cNvSpPr>
            <a:spLocks noGrp="1"/>
          </p:cNvSpPr>
          <p:nvPr>
            <p:ph type="title"/>
          </p:nvPr>
        </p:nvSpPr>
        <p:spPr/>
        <p:txBody>
          <a:bodyPr/>
          <a:lstStyle/>
          <a:p>
            <a:r>
              <a:rPr lang="en-US" dirty="0"/>
              <a:t>Data splitting</a:t>
            </a:r>
            <a:endParaRPr lang="en-IN" dirty="0"/>
          </a:p>
        </p:txBody>
      </p:sp>
      <p:sp>
        <p:nvSpPr>
          <p:cNvPr id="3" name="Content Placeholder 2">
            <a:extLst>
              <a:ext uri="{FF2B5EF4-FFF2-40B4-BE49-F238E27FC236}">
                <a16:creationId xmlns:a16="http://schemas.microsoft.com/office/drawing/2014/main" id="{CE7626C3-36BE-71D3-B4A1-E26739AFB7E5}"/>
              </a:ext>
            </a:extLst>
          </p:cNvPr>
          <p:cNvSpPr>
            <a:spLocks noGrp="1"/>
          </p:cNvSpPr>
          <p:nvPr>
            <p:ph idx="1"/>
          </p:nvPr>
        </p:nvSpPr>
        <p:spPr/>
        <p:txBody>
          <a:bodyPr/>
          <a:lstStyle/>
          <a:p>
            <a:pPr>
              <a:lnSpc>
                <a:spcPct val="115000"/>
              </a:lnSpc>
              <a:spcAft>
                <a:spcPts val="100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Splitting dataset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IN" sz="1800" b="1" dirty="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Data set is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splitted</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into training and testing subsets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For training 80% data and for testing 20% of data is selected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860738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F5E47-341C-32D2-DA83-7DCE6A990150}"/>
              </a:ext>
            </a:extLst>
          </p:cNvPr>
          <p:cNvSpPr>
            <a:spLocks noGrp="1"/>
          </p:cNvSpPr>
          <p:nvPr>
            <p:ph type="title"/>
          </p:nvPr>
        </p:nvSpPr>
        <p:spPr/>
        <p:txBody>
          <a:bodyPr/>
          <a:lstStyle/>
          <a:p>
            <a:r>
              <a:rPr lang="en-US" dirty="0"/>
              <a:t>Algorithms used</a:t>
            </a:r>
            <a:endParaRPr lang="en-IN" dirty="0"/>
          </a:p>
        </p:txBody>
      </p:sp>
      <p:sp>
        <p:nvSpPr>
          <p:cNvPr id="3" name="Content Placeholder 2">
            <a:extLst>
              <a:ext uri="{FF2B5EF4-FFF2-40B4-BE49-F238E27FC236}">
                <a16:creationId xmlns:a16="http://schemas.microsoft.com/office/drawing/2014/main" id="{B73E8F2D-311C-52CC-8112-7A52B9D94042}"/>
              </a:ext>
            </a:extLst>
          </p:cNvPr>
          <p:cNvSpPr>
            <a:spLocks noGrp="1"/>
          </p:cNvSpPr>
          <p:nvPr>
            <p:ph idx="1"/>
          </p:nvPr>
        </p:nvSpPr>
        <p:spPr/>
        <p:txBody>
          <a:bodyPr/>
          <a:lstStyle/>
          <a:p>
            <a:pPr>
              <a:lnSpc>
                <a:spcPct val="106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For building deep  learning model following algorithms Are used.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06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06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CNN 1D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285750">
              <a:lnSpc>
                <a:spcPct val="106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UNET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57680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5CF67-AE44-6982-EA07-851C409BCDDA}"/>
              </a:ext>
            </a:extLst>
          </p:cNvPr>
          <p:cNvSpPr>
            <a:spLocks noGrp="1"/>
          </p:cNvSpPr>
          <p:nvPr>
            <p:ph type="title"/>
          </p:nvPr>
        </p:nvSpPr>
        <p:spPr/>
        <p:txBody>
          <a:bodyPr/>
          <a:lstStyle/>
          <a:p>
            <a:r>
              <a:rPr lang="en-US" dirty="0"/>
              <a:t>ANN</a:t>
            </a:r>
            <a:endParaRPr lang="en-IN" dirty="0"/>
          </a:p>
        </p:txBody>
      </p:sp>
      <p:sp>
        <p:nvSpPr>
          <p:cNvPr id="3" name="Content Placeholder 2">
            <a:extLst>
              <a:ext uri="{FF2B5EF4-FFF2-40B4-BE49-F238E27FC236}">
                <a16:creationId xmlns:a16="http://schemas.microsoft.com/office/drawing/2014/main" id="{3B6335CF-7C2E-95BB-34C7-CB883823B8F7}"/>
              </a:ext>
            </a:extLst>
          </p:cNvPr>
          <p:cNvSpPr>
            <a:spLocks noGrp="1"/>
          </p:cNvSpPr>
          <p:nvPr>
            <p:ph idx="1"/>
          </p:nvPr>
        </p:nvSpPr>
        <p:spPr>
          <a:xfrm>
            <a:off x="1136583" y="1690688"/>
            <a:ext cx="10515600" cy="4351338"/>
          </a:xfrm>
        </p:spPr>
        <p:txBody>
          <a:bodyPr>
            <a:normAutofit/>
          </a:bodyPr>
          <a:lstStyle/>
          <a:p>
            <a:pPr algn="l">
              <a:lnSpc>
                <a:spcPts val="2143"/>
              </a:lnSpc>
              <a:spcBef>
                <a:spcPts val="1029"/>
              </a:spcBef>
              <a:spcAft>
                <a:spcPts val="300"/>
              </a:spcAft>
              <a:buFont typeface="+mj-lt"/>
              <a:buAutoNum type="arabicPeriod"/>
            </a:pPr>
            <a:r>
              <a:rPr lang="en-US" b="1" i="0" dirty="0">
                <a:solidFill>
                  <a:srgbClr val="404040"/>
                </a:solidFill>
                <a:effectLst/>
                <a:latin typeface="DeepSeek-CJK-patch"/>
              </a:rPr>
              <a:t>Effective for Non-linear Relationships</a:t>
            </a:r>
            <a:endParaRPr lang="en-US" b="0" i="0" dirty="0">
              <a:solidFill>
                <a:srgbClr val="404040"/>
              </a:solidFill>
              <a:effectLst/>
              <a:latin typeface="DeepSeek-CJK-patch"/>
            </a:endParaRPr>
          </a:p>
          <a:p>
            <a:pPr marL="742950" lvl="1" indent="-285750" algn="l">
              <a:lnSpc>
                <a:spcPts val="2143"/>
              </a:lnSpc>
              <a:spcBef>
                <a:spcPts val="300"/>
              </a:spcBef>
              <a:spcAft>
                <a:spcPts val="1029"/>
              </a:spcAft>
              <a:buFont typeface="+mj-lt"/>
              <a:buAutoNum type="arabicPeriod"/>
            </a:pPr>
            <a:r>
              <a:rPr lang="en-US" b="0" i="0" dirty="0">
                <a:solidFill>
                  <a:srgbClr val="404040"/>
                </a:solidFill>
                <a:effectLst/>
                <a:latin typeface="DeepSeek-CJK-patch"/>
              </a:rPr>
              <a:t>ANNs excel at modeling </a:t>
            </a:r>
            <a:r>
              <a:rPr lang="en-US" b="1" i="0" dirty="0">
                <a:solidFill>
                  <a:srgbClr val="404040"/>
                </a:solidFill>
                <a:effectLst/>
                <a:latin typeface="DeepSeek-CJK-patch"/>
              </a:rPr>
              <a:t>complex, non-linear interactions</a:t>
            </a:r>
            <a:r>
              <a:rPr lang="en-US" b="0" i="0" dirty="0">
                <a:solidFill>
                  <a:srgbClr val="404040"/>
                </a:solidFill>
                <a:effectLst/>
                <a:latin typeface="DeepSeek-CJK-patch"/>
              </a:rPr>
              <a:t> between risk factors (e.g., age, cholesterol, blood pressure) that contribute to CHD, outperforming traditional logistic regression.</a:t>
            </a:r>
          </a:p>
          <a:p>
            <a:pPr algn="l">
              <a:lnSpc>
                <a:spcPts val="2143"/>
              </a:lnSpc>
              <a:spcBef>
                <a:spcPts val="300"/>
              </a:spcBef>
              <a:spcAft>
                <a:spcPts val="300"/>
              </a:spcAft>
              <a:buFont typeface="+mj-lt"/>
              <a:buAutoNum type="arabicPeriod"/>
            </a:pPr>
            <a:r>
              <a:rPr lang="en-US" b="1" i="0" dirty="0">
                <a:solidFill>
                  <a:srgbClr val="404040"/>
                </a:solidFill>
                <a:effectLst/>
                <a:latin typeface="DeepSeek-CJK-patch"/>
              </a:rPr>
              <a:t>Handles High-Dimensional Data</a:t>
            </a:r>
            <a:endParaRPr lang="en-US" b="0" i="0" dirty="0">
              <a:solidFill>
                <a:srgbClr val="404040"/>
              </a:solidFill>
              <a:effectLst/>
              <a:latin typeface="DeepSeek-CJK-patch"/>
            </a:endParaRPr>
          </a:p>
          <a:p>
            <a:pPr marL="742950" lvl="1" indent="-285750" algn="l">
              <a:lnSpc>
                <a:spcPts val="2143"/>
              </a:lnSpc>
              <a:spcBef>
                <a:spcPts val="300"/>
              </a:spcBef>
              <a:spcAft>
                <a:spcPts val="1029"/>
              </a:spcAft>
              <a:buFont typeface="+mj-lt"/>
              <a:buAutoNum type="arabicPeriod"/>
            </a:pPr>
            <a:r>
              <a:rPr lang="en-US" b="0" i="0" dirty="0">
                <a:solidFill>
                  <a:srgbClr val="404040"/>
                </a:solidFill>
                <a:effectLst/>
                <a:latin typeface="DeepSeek-CJK-patch"/>
              </a:rPr>
              <a:t>Capable of processing </a:t>
            </a:r>
            <a:r>
              <a:rPr lang="en-US" b="1" i="0" dirty="0">
                <a:solidFill>
                  <a:srgbClr val="404040"/>
                </a:solidFill>
                <a:effectLst/>
                <a:latin typeface="DeepSeek-CJK-patch"/>
              </a:rPr>
              <a:t>multiple input features</a:t>
            </a:r>
            <a:r>
              <a:rPr lang="en-US" b="0" i="0" dirty="0">
                <a:solidFill>
                  <a:srgbClr val="404040"/>
                </a:solidFill>
                <a:effectLst/>
                <a:latin typeface="DeepSeek-CJK-patch"/>
              </a:rPr>
              <a:t> simultaneously, making them suitable for datasets like Framingham with numerous clinical and demographic variables.</a:t>
            </a:r>
          </a:p>
          <a:p>
            <a:pPr algn="l">
              <a:lnSpc>
                <a:spcPts val="2143"/>
              </a:lnSpc>
              <a:spcBef>
                <a:spcPts val="300"/>
              </a:spcBef>
              <a:spcAft>
                <a:spcPts val="300"/>
              </a:spcAft>
              <a:buFont typeface="+mj-lt"/>
              <a:buAutoNum type="arabicPeriod"/>
            </a:pPr>
            <a:r>
              <a:rPr lang="en-US" b="1" i="0" dirty="0">
                <a:solidFill>
                  <a:srgbClr val="404040"/>
                </a:solidFill>
                <a:effectLst/>
                <a:latin typeface="DeepSeek-CJK-patch"/>
              </a:rPr>
              <a:t>Feature Learning Without Manual Engineering</a:t>
            </a:r>
            <a:endParaRPr lang="en-US" b="0" i="0" dirty="0">
              <a:solidFill>
                <a:srgbClr val="404040"/>
              </a:solidFill>
              <a:effectLst/>
              <a:latin typeface="DeepSeek-CJK-patch"/>
            </a:endParaRPr>
          </a:p>
          <a:p>
            <a:pPr marL="742950" lvl="1" indent="-285750" algn="l">
              <a:lnSpc>
                <a:spcPts val="2143"/>
              </a:lnSpc>
              <a:spcBef>
                <a:spcPts val="300"/>
              </a:spcBef>
              <a:spcAft>
                <a:spcPts val="1029"/>
              </a:spcAft>
              <a:buFont typeface="+mj-lt"/>
              <a:buAutoNum type="arabicPeriod"/>
            </a:pPr>
            <a:r>
              <a:rPr lang="en-US" b="0" i="0" dirty="0">
                <a:solidFill>
                  <a:srgbClr val="404040"/>
                </a:solidFill>
                <a:effectLst/>
                <a:latin typeface="DeepSeek-CJK-patch"/>
              </a:rPr>
              <a:t>Automatically </a:t>
            </a:r>
            <a:r>
              <a:rPr lang="en-US" b="1" i="0" dirty="0">
                <a:solidFill>
                  <a:srgbClr val="404040"/>
                </a:solidFill>
                <a:effectLst/>
                <a:latin typeface="DeepSeek-CJK-patch"/>
              </a:rPr>
              <a:t>extracts and weights important features</a:t>
            </a:r>
            <a:r>
              <a:rPr lang="en-US" b="0" i="0" dirty="0">
                <a:solidFill>
                  <a:srgbClr val="404040"/>
                </a:solidFill>
                <a:effectLst/>
                <a:latin typeface="DeepSeek-CJK-patch"/>
              </a:rPr>
              <a:t>, reducing the need for domain expertise in selecting predictors.</a:t>
            </a:r>
          </a:p>
          <a:p>
            <a:pPr marL="0" indent="0">
              <a:buNone/>
            </a:pPr>
            <a:endParaRPr lang="en-IN" dirty="0"/>
          </a:p>
        </p:txBody>
      </p:sp>
    </p:spTree>
    <p:extLst>
      <p:ext uri="{BB962C8B-B14F-4D97-AF65-F5344CB8AC3E}">
        <p14:creationId xmlns:p14="http://schemas.microsoft.com/office/powerpoint/2010/main" val="1086037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3BF50-11F0-7B10-4934-9674AC967A82}"/>
              </a:ext>
            </a:extLst>
          </p:cNvPr>
          <p:cNvSpPr>
            <a:spLocks noGrp="1"/>
          </p:cNvSpPr>
          <p:nvPr>
            <p:ph type="title"/>
          </p:nvPr>
        </p:nvSpPr>
        <p:spPr/>
        <p:txBody>
          <a:bodyPr/>
          <a:lstStyle/>
          <a:p>
            <a:r>
              <a:rPr lang="en-US" dirty="0"/>
              <a:t>CNN 1D</a:t>
            </a:r>
            <a:endParaRPr lang="en-IN" dirty="0"/>
          </a:p>
        </p:txBody>
      </p:sp>
      <p:sp>
        <p:nvSpPr>
          <p:cNvPr id="3" name="Content Placeholder 2">
            <a:extLst>
              <a:ext uri="{FF2B5EF4-FFF2-40B4-BE49-F238E27FC236}">
                <a16:creationId xmlns:a16="http://schemas.microsoft.com/office/drawing/2014/main" id="{CDC0D5FE-5F35-0F7A-E60B-4BD8A5756438}"/>
              </a:ext>
            </a:extLst>
          </p:cNvPr>
          <p:cNvSpPr>
            <a:spLocks noGrp="1"/>
          </p:cNvSpPr>
          <p:nvPr>
            <p:ph idx="1"/>
          </p:nvPr>
        </p:nvSpPr>
        <p:spPr/>
        <p:txBody>
          <a:bodyPr/>
          <a:lstStyle/>
          <a:p>
            <a:r>
              <a:rPr lang="en-US" b="0" i="0" dirty="0">
                <a:solidFill>
                  <a:srgbClr val="404040"/>
                </a:solidFill>
                <a:effectLst/>
                <a:latin typeface="DeepSeek-CJK-patch"/>
              </a:rPr>
              <a:t>In this project, a </a:t>
            </a:r>
            <a:r>
              <a:rPr lang="en-US" b="1" i="0" dirty="0">
                <a:solidFill>
                  <a:srgbClr val="404040"/>
                </a:solidFill>
                <a:effectLst/>
                <a:latin typeface="DeepSeek-CJK-patch"/>
              </a:rPr>
              <a:t>1D Convolutional Neural Network (CNN)</a:t>
            </a:r>
            <a:r>
              <a:rPr lang="en-US" b="0" i="0" dirty="0">
                <a:solidFill>
                  <a:srgbClr val="404040"/>
                </a:solidFill>
                <a:effectLst/>
                <a:latin typeface="DeepSeek-CJK-patch"/>
              </a:rPr>
              <a:t> is applied to the </a:t>
            </a:r>
            <a:r>
              <a:rPr lang="en-US" b="1" i="0" dirty="0">
                <a:solidFill>
                  <a:srgbClr val="404040"/>
                </a:solidFill>
                <a:effectLst/>
                <a:latin typeface="DeepSeek-CJK-patch"/>
              </a:rPr>
              <a:t>structured tabular data</a:t>
            </a:r>
            <a:r>
              <a:rPr lang="en-US" b="0" i="0" dirty="0">
                <a:solidFill>
                  <a:srgbClr val="404040"/>
                </a:solidFill>
                <a:effectLst/>
                <a:latin typeface="DeepSeek-CJK-patch"/>
              </a:rPr>
              <a:t> from the Framingham dataset to predict the risk of coronary heart disease. Unlike traditional CNNs used for image processing (2D/3D), a </a:t>
            </a:r>
            <a:r>
              <a:rPr lang="en-US" b="1" i="0" dirty="0">
                <a:solidFill>
                  <a:srgbClr val="404040"/>
                </a:solidFill>
                <a:effectLst/>
                <a:latin typeface="DeepSeek-CJK-patch"/>
              </a:rPr>
              <a:t>1D CNN processes sequential or feature-aligned data</a:t>
            </a:r>
            <a:r>
              <a:rPr lang="en-US" b="0" i="0" dirty="0">
                <a:solidFill>
                  <a:srgbClr val="404040"/>
                </a:solidFill>
                <a:effectLst/>
                <a:latin typeface="DeepSeek-CJK-patch"/>
              </a:rPr>
              <a:t>, making it suitable for clinical risk prediction. </a:t>
            </a:r>
            <a:endParaRPr lang="en-IN" dirty="0"/>
          </a:p>
        </p:txBody>
      </p:sp>
    </p:spTree>
    <p:extLst>
      <p:ext uri="{BB962C8B-B14F-4D97-AF65-F5344CB8AC3E}">
        <p14:creationId xmlns:p14="http://schemas.microsoft.com/office/powerpoint/2010/main" val="4102326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11BCB-859B-DE74-C7ED-B2D75AED1D30}"/>
              </a:ext>
            </a:extLst>
          </p:cNvPr>
          <p:cNvSpPr>
            <a:spLocks noGrp="1"/>
          </p:cNvSpPr>
          <p:nvPr>
            <p:ph type="title"/>
          </p:nvPr>
        </p:nvSpPr>
        <p:spPr/>
        <p:txBody>
          <a:bodyPr/>
          <a:lstStyle/>
          <a:p>
            <a:r>
              <a:rPr lang="en-US" dirty="0"/>
              <a:t>UNET</a:t>
            </a:r>
            <a:endParaRPr lang="en-IN" dirty="0"/>
          </a:p>
        </p:txBody>
      </p:sp>
      <p:sp>
        <p:nvSpPr>
          <p:cNvPr id="3" name="Content Placeholder 2">
            <a:extLst>
              <a:ext uri="{FF2B5EF4-FFF2-40B4-BE49-F238E27FC236}">
                <a16:creationId xmlns:a16="http://schemas.microsoft.com/office/drawing/2014/main" id="{FCE7D460-8F63-43BB-D3D6-2EA5F1FFD24B}"/>
              </a:ext>
            </a:extLst>
          </p:cNvPr>
          <p:cNvSpPr>
            <a:spLocks noGrp="1"/>
          </p:cNvSpPr>
          <p:nvPr>
            <p:ph idx="1"/>
          </p:nvPr>
        </p:nvSpPr>
        <p:spPr>
          <a:xfrm>
            <a:off x="838200" y="1825625"/>
            <a:ext cx="10515600" cy="4565550"/>
          </a:xfrm>
        </p:spPr>
        <p:txBody>
          <a:bodyPr>
            <a:normAutofit/>
          </a:bodyPr>
          <a:lstStyle/>
          <a:p>
            <a:pPr algn="l">
              <a:lnSpc>
                <a:spcPts val="2143"/>
              </a:lnSpc>
              <a:spcBef>
                <a:spcPts val="1372"/>
              </a:spcBef>
              <a:spcAft>
                <a:spcPts val="1029"/>
              </a:spcAft>
              <a:buNone/>
            </a:pPr>
            <a:r>
              <a:rPr lang="en-IN" b="1" i="0" dirty="0">
                <a:solidFill>
                  <a:srgbClr val="404040"/>
                </a:solidFill>
                <a:effectLst/>
                <a:latin typeface="DeepSeek-CJK-patch"/>
              </a:rPr>
              <a:t>1. U-Net Overview</a:t>
            </a:r>
            <a:endParaRPr lang="en-IN" b="0" i="0" dirty="0">
              <a:solidFill>
                <a:srgbClr val="404040"/>
              </a:solidFill>
              <a:effectLst/>
              <a:latin typeface="DeepSeek-CJK-patch"/>
            </a:endParaRPr>
          </a:p>
          <a:p>
            <a:pPr algn="l">
              <a:lnSpc>
                <a:spcPts val="2143"/>
              </a:lnSpc>
              <a:spcBef>
                <a:spcPts val="1029"/>
              </a:spcBef>
              <a:spcAft>
                <a:spcPts val="1029"/>
              </a:spcAft>
              <a:buFont typeface="Arial" panose="020B0604020202020204" pitchFamily="34" charset="0"/>
              <a:buChar char="•"/>
            </a:pPr>
            <a:r>
              <a:rPr lang="en-IN" b="0" i="0" dirty="0">
                <a:solidFill>
                  <a:srgbClr val="404040"/>
                </a:solidFill>
                <a:effectLst/>
                <a:latin typeface="DeepSeek-CJK-patch"/>
              </a:rPr>
              <a:t>Originally designed for </a:t>
            </a:r>
            <a:r>
              <a:rPr lang="en-IN" b="1" i="0" dirty="0">
                <a:solidFill>
                  <a:srgbClr val="404040"/>
                </a:solidFill>
                <a:effectLst/>
                <a:latin typeface="DeepSeek-CJK-patch"/>
              </a:rPr>
              <a:t>biomedical image segmentation</a:t>
            </a:r>
            <a:r>
              <a:rPr lang="en-IN" b="0" i="0" dirty="0">
                <a:solidFill>
                  <a:srgbClr val="404040"/>
                </a:solidFill>
                <a:effectLst/>
                <a:latin typeface="DeepSeek-CJK-patch"/>
              </a:rPr>
              <a:t> (e.g., </a:t>
            </a:r>
            <a:r>
              <a:rPr lang="en-IN" b="0" i="0" dirty="0" err="1">
                <a:solidFill>
                  <a:srgbClr val="404040"/>
                </a:solidFill>
                <a:effectLst/>
                <a:latin typeface="DeepSeek-CJK-patch"/>
              </a:rPr>
              <a:t>tumors</a:t>
            </a:r>
            <a:r>
              <a:rPr lang="en-IN" b="0" i="0" dirty="0">
                <a:solidFill>
                  <a:srgbClr val="404040"/>
                </a:solidFill>
                <a:effectLst/>
                <a:latin typeface="DeepSeek-CJK-patch"/>
              </a:rPr>
              <a:t>, cells).</a:t>
            </a:r>
          </a:p>
          <a:p>
            <a:pPr algn="l">
              <a:lnSpc>
                <a:spcPts val="2143"/>
              </a:lnSpc>
              <a:spcBef>
                <a:spcPts val="300"/>
              </a:spcBef>
              <a:spcAft>
                <a:spcPts val="1029"/>
              </a:spcAft>
              <a:buFont typeface="Arial" panose="020B0604020202020204" pitchFamily="34" charset="0"/>
              <a:buChar char="•"/>
            </a:pPr>
            <a:r>
              <a:rPr lang="en-IN" b="0" i="0" dirty="0">
                <a:solidFill>
                  <a:srgbClr val="404040"/>
                </a:solidFill>
                <a:effectLst/>
                <a:latin typeface="DeepSeek-CJK-patch"/>
              </a:rPr>
              <a:t>Uses an </a:t>
            </a:r>
            <a:r>
              <a:rPr lang="en-IN" b="1" i="0" dirty="0">
                <a:solidFill>
                  <a:srgbClr val="404040"/>
                </a:solidFill>
                <a:effectLst/>
                <a:latin typeface="DeepSeek-CJK-patch"/>
              </a:rPr>
              <a:t>encoder-decoder</a:t>
            </a:r>
            <a:r>
              <a:rPr lang="en-IN" b="0" i="0" dirty="0">
                <a:solidFill>
                  <a:srgbClr val="404040"/>
                </a:solidFill>
                <a:effectLst/>
                <a:latin typeface="DeepSeek-CJK-patch"/>
              </a:rPr>
              <a:t> structure with </a:t>
            </a:r>
            <a:r>
              <a:rPr lang="en-IN" b="1" i="0" dirty="0">
                <a:solidFill>
                  <a:srgbClr val="404040"/>
                </a:solidFill>
                <a:effectLst/>
                <a:latin typeface="DeepSeek-CJK-patch"/>
              </a:rPr>
              <a:t>skip connections</a:t>
            </a:r>
            <a:r>
              <a:rPr lang="en-IN" b="0" i="0" dirty="0">
                <a:solidFill>
                  <a:srgbClr val="404040"/>
                </a:solidFill>
                <a:effectLst/>
                <a:latin typeface="DeepSeek-CJK-patch"/>
              </a:rPr>
              <a:t> to preserve spatial details.</a:t>
            </a:r>
          </a:p>
          <a:p>
            <a:pPr algn="l">
              <a:lnSpc>
                <a:spcPts val="2143"/>
              </a:lnSpc>
              <a:spcBef>
                <a:spcPts val="300"/>
              </a:spcBef>
              <a:spcAft>
                <a:spcPts val="1029"/>
              </a:spcAft>
              <a:buFont typeface="Arial" panose="020B0604020202020204" pitchFamily="34" charset="0"/>
              <a:buChar char="•"/>
            </a:pPr>
            <a:r>
              <a:rPr lang="en-IN" b="0" i="0" dirty="0">
                <a:solidFill>
                  <a:srgbClr val="404040"/>
                </a:solidFill>
                <a:effectLst/>
                <a:latin typeface="DeepSeek-CJK-patch"/>
              </a:rPr>
              <a:t>Adapted in this project for </a:t>
            </a:r>
            <a:r>
              <a:rPr lang="en-IN" b="1" i="0" dirty="0">
                <a:solidFill>
                  <a:srgbClr val="404040"/>
                </a:solidFill>
                <a:effectLst/>
                <a:latin typeface="DeepSeek-CJK-patch"/>
              </a:rPr>
              <a:t>structured tabular data</a:t>
            </a:r>
            <a:r>
              <a:rPr lang="en-IN" b="0" i="0" dirty="0">
                <a:solidFill>
                  <a:srgbClr val="404040"/>
                </a:solidFill>
                <a:effectLst/>
                <a:latin typeface="DeepSeek-CJK-patch"/>
              </a:rPr>
              <a:t> (Framingham dataset) to predict CHD risk.</a:t>
            </a:r>
          </a:p>
          <a:p>
            <a:pPr algn="l">
              <a:lnSpc>
                <a:spcPts val="2143"/>
              </a:lnSpc>
              <a:spcBef>
                <a:spcPts val="1372"/>
              </a:spcBef>
              <a:spcAft>
                <a:spcPts val="1029"/>
              </a:spcAft>
              <a:buNone/>
            </a:pPr>
            <a:r>
              <a:rPr lang="en-IN" b="1" i="0" dirty="0">
                <a:solidFill>
                  <a:srgbClr val="404040"/>
                </a:solidFill>
                <a:effectLst/>
                <a:latin typeface="DeepSeek-CJK-patch"/>
              </a:rPr>
              <a:t>2. How U-Net Works for CHD Prediction</a:t>
            </a:r>
            <a:endParaRPr lang="en-IN" b="0" i="0" dirty="0">
              <a:solidFill>
                <a:srgbClr val="404040"/>
              </a:solidFill>
              <a:effectLst/>
              <a:latin typeface="DeepSeek-CJK-patch"/>
            </a:endParaRPr>
          </a:p>
          <a:p>
            <a:pPr algn="l">
              <a:lnSpc>
                <a:spcPts val="2143"/>
              </a:lnSpc>
              <a:spcBef>
                <a:spcPts val="1029"/>
              </a:spcBef>
              <a:spcAft>
                <a:spcPts val="300"/>
              </a:spcAft>
              <a:buFont typeface="Arial" panose="020B0604020202020204" pitchFamily="34" charset="0"/>
              <a:buChar char="•"/>
            </a:pPr>
            <a:r>
              <a:rPr lang="en-IN" b="1" i="0" dirty="0">
                <a:solidFill>
                  <a:srgbClr val="404040"/>
                </a:solidFill>
                <a:effectLst/>
                <a:latin typeface="DeepSeek-CJK-patch"/>
              </a:rPr>
              <a:t>Encoder (</a:t>
            </a:r>
            <a:r>
              <a:rPr lang="en-IN" b="1" i="0" dirty="0" err="1">
                <a:solidFill>
                  <a:srgbClr val="404040"/>
                </a:solidFill>
                <a:effectLst/>
                <a:latin typeface="DeepSeek-CJK-patch"/>
              </a:rPr>
              <a:t>Downsampling</a:t>
            </a:r>
            <a:r>
              <a:rPr lang="en-IN" b="1" i="0" dirty="0">
                <a:solidFill>
                  <a:srgbClr val="404040"/>
                </a:solidFill>
                <a:effectLst/>
                <a:latin typeface="DeepSeek-CJK-patch"/>
              </a:rPr>
              <a:t>):</a:t>
            </a:r>
            <a:endParaRPr lang="en-IN" b="0" i="0" dirty="0">
              <a:solidFill>
                <a:srgbClr val="404040"/>
              </a:solidFill>
              <a:effectLst/>
              <a:latin typeface="DeepSeek-CJK-patch"/>
            </a:endParaRPr>
          </a:p>
          <a:p>
            <a:pPr marL="742950" lvl="1" indent="-285750" algn="l">
              <a:lnSpc>
                <a:spcPts val="2143"/>
              </a:lnSpc>
              <a:spcBef>
                <a:spcPts val="300"/>
              </a:spcBef>
              <a:spcAft>
                <a:spcPts val="1029"/>
              </a:spcAft>
              <a:buFont typeface="Arial" panose="020B0604020202020204" pitchFamily="34" charset="0"/>
              <a:buChar char="•"/>
            </a:pPr>
            <a:r>
              <a:rPr lang="en-IN" b="0" i="0" dirty="0">
                <a:solidFill>
                  <a:srgbClr val="404040"/>
                </a:solidFill>
                <a:effectLst/>
                <a:latin typeface="DeepSeek-CJK-patch"/>
              </a:rPr>
              <a:t>Compresses input features (e.g., age, cholesterol) into </a:t>
            </a:r>
            <a:r>
              <a:rPr lang="en-IN" b="1" i="0" dirty="0">
                <a:solidFill>
                  <a:srgbClr val="404040"/>
                </a:solidFill>
                <a:effectLst/>
                <a:latin typeface="DeepSeek-CJK-patch"/>
              </a:rPr>
              <a:t>latent representations</a:t>
            </a:r>
            <a:r>
              <a:rPr lang="en-IN" b="0" i="0" dirty="0">
                <a:solidFill>
                  <a:srgbClr val="404040"/>
                </a:solidFill>
                <a:effectLst/>
                <a:latin typeface="DeepSeek-CJK-patch"/>
              </a:rPr>
              <a:t> using convolutional and pooling layers.</a:t>
            </a:r>
          </a:p>
          <a:p>
            <a:endParaRPr lang="en-IN" dirty="0"/>
          </a:p>
        </p:txBody>
      </p:sp>
    </p:spTree>
    <p:extLst>
      <p:ext uri="{BB962C8B-B14F-4D97-AF65-F5344CB8AC3E}">
        <p14:creationId xmlns:p14="http://schemas.microsoft.com/office/powerpoint/2010/main" val="91744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5B562-ACBC-BC62-2854-C28AFC79DA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FA170E0-0446-137F-B81F-CD4997C9F164}"/>
              </a:ext>
            </a:extLst>
          </p:cNvPr>
          <p:cNvSpPr>
            <a:spLocks noGrp="1"/>
          </p:cNvSpPr>
          <p:nvPr>
            <p:ph idx="1"/>
          </p:nvPr>
        </p:nvSpPr>
        <p:spPr/>
        <p:txBody>
          <a:bodyPr/>
          <a:lstStyle/>
          <a:p>
            <a:r>
              <a:rPr lang="en-US" b="0" i="0" dirty="0">
                <a:solidFill>
                  <a:srgbClr val="404040"/>
                </a:solidFill>
                <a:effectLst/>
                <a:latin typeface="DeepSeek-CJK-patch"/>
              </a:rPr>
              <a:t>In this study, U-Net </a:t>
            </a:r>
            <a:r>
              <a:rPr lang="en-US" b="1" i="0" dirty="0">
                <a:solidFill>
                  <a:srgbClr val="404040"/>
                </a:solidFill>
                <a:effectLst/>
                <a:latin typeface="DeepSeek-CJK-patch"/>
              </a:rPr>
              <a:t>underperformed ANN</a:t>
            </a:r>
            <a:r>
              <a:rPr lang="en-US" b="0" i="0" dirty="0">
                <a:solidFill>
                  <a:srgbClr val="404040"/>
                </a:solidFill>
                <a:effectLst/>
                <a:latin typeface="DeepSeek-CJK-patch"/>
              </a:rPr>
              <a:t>, likely due to unnecessary complexity for non-image data.</a:t>
            </a:r>
          </a:p>
          <a:p>
            <a:r>
              <a:rPr lang="en-US" b="0" i="0" dirty="0">
                <a:solidFill>
                  <a:srgbClr val="404040"/>
                </a:solidFill>
                <a:effectLst/>
                <a:latin typeface="DeepSeek-CJK-patch"/>
              </a:rPr>
              <a:t>While U-Net is </a:t>
            </a:r>
            <a:r>
              <a:rPr lang="en-US" b="1" i="0" dirty="0">
                <a:solidFill>
                  <a:srgbClr val="404040"/>
                </a:solidFill>
                <a:effectLst/>
                <a:latin typeface="DeepSeek-CJK-patch"/>
              </a:rPr>
              <a:t>not optimal for pure tabular data</a:t>
            </a:r>
            <a:r>
              <a:rPr lang="en-US" b="0" i="0" dirty="0">
                <a:solidFill>
                  <a:srgbClr val="404040"/>
                </a:solidFill>
                <a:effectLst/>
                <a:latin typeface="DeepSeek-CJK-patch"/>
              </a:rPr>
              <a:t>, its structural principles inspire hybrid architectures for future CHD prediction models.</a:t>
            </a:r>
          </a:p>
          <a:p>
            <a:endParaRPr lang="en-US" b="0" i="0" dirty="0">
              <a:solidFill>
                <a:srgbClr val="404040"/>
              </a:solidFill>
              <a:effectLst/>
              <a:latin typeface="DeepSeek-CJK-patch"/>
            </a:endParaRPr>
          </a:p>
          <a:p>
            <a:endParaRPr lang="en-IN" dirty="0"/>
          </a:p>
        </p:txBody>
      </p:sp>
    </p:spTree>
    <p:extLst>
      <p:ext uri="{BB962C8B-B14F-4D97-AF65-F5344CB8AC3E}">
        <p14:creationId xmlns:p14="http://schemas.microsoft.com/office/powerpoint/2010/main" val="3381898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C40CD-E89E-2076-0016-A84426C6E1F8}"/>
              </a:ext>
            </a:extLst>
          </p:cNvPr>
          <p:cNvSpPr>
            <a:spLocks noGrp="1"/>
          </p:cNvSpPr>
          <p:nvPr>
            <p:ph type="title"/>
          </p:nvPr>
        </p:nvSpPr>
        <p:spPr/>
        <p:txBody>
          <a:bodyPr/>
          <a:lstStyle/>
          <a:p>
            <a:r>
              <a:rPr lang="en-US" dirty="0"/>
              <a:t>GUI Implementation</a:t>
            </a:r>
            <a:endParaRPr lang="en-IN" dirty="0"/>
          </a:p>
        </p:txBody>
      </p:sp>
      <p:pic>
        <p:nvPicPr>
          <p:cNvPr id="10" name="Content Placeholder 9">
            <a:extLst>
              <a:ext uri="{FF2B5EF4-FFF2-40B4-BE49-F238E27FC236}">
                <a16:creationId xmlns:a16="http://schemas.microsoft.com/office/drawing/2014/main" id="{79E28F69-A9EB-AAB4-6230-F1145E6808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2927" y="1883460"/>
            <a:ext cx="9646146" cy="4235668"/>
          </a:xfrm>
        </p:spPr>
      </p:pic>
    </p:spTree>
    <p:extLst>
      <p:ext uri="{BB962C8B-B14F-4D97-AF65-F5344CB8AC3E}">
        <p14:creationId xmlns:p14="http://schemas.microsoft.com/office/powerpoint/2010/main" val="3658992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307F2-2BAE-BA70-D031-761F0AEBA448}"/>
              </a:ext>
            </a:extLst>
          </p:cNvPr>
          <p:cNvSpPr>
            <a:spLocks noGrp="1"/>
          </p:cNvSpPr>
          <p:nvPr>
            <p:ph type="title"/>
          </p:nvPr>
        </p:nvSpPr>
        <p:spPr/>
        <p:txBody>
          <a:bodyPr/>
          <a:lstStyle/>
          <a:p>
            <a:r>
              <a:rPr lang="en-US" dirty="0"/>
              <a:t>GUI Implementation</a:t>
            </a:r>
            <a:endParaRPr lang="en-IN" dirty="0"/>
          </a:p>
        </p:txBody>
      </p:sp>
      <p:pic>
        <p:nvPicPr>
          <p:cNvPr id="11" name="Content Placeholder 10">
            <a:extLst>
              <a:ext uri="{FF2B5EF4-FFF2-40B4-BE49-F238E27FC236}">
                <a16:creationId xmlns:a16="http://schemas.microsoft.com/office/drawing/2014/main" id="{619900B7-8F02-9687-5031-0DFE2F25163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4025" y="1289785"/>
            <a:ext cx="10347158" cy="5203090"/>
          </a:xfrm>
        </p:spPr>
      </p:pic>
    </p:spTree>
    <p:extLst>
      <p:ext uri="{BB962C8B-B14F-4D97-AF65-F5344CB8AC3E}">
        <p14:creationId xmlns:p14="http://schemas.microsoft.com/office/powerpoint/2010/main" val="1017326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4CF08-C07F-8CC0-B476-0FC6FA3DC274}"/>
              </a:ext>
            </a:extLst>
          </p:cNvPr>
          <p:cNvSpPr>
            <a:spLocks noGrp="1"/>
          </p:cNvSpPr>
          <p:nvPr>
            <p:ph type="title"/>
          </p:nvPr>
        </p:nvSpPr>
        <p:spPr/>
        <p:txBody>
          <a:bodyPr/>
          <a:lstStyle/>
          <a:p>
            <a:r>
              <a:rPr lang="en-US" dirty="0"/>
              <a:t>GUI</a:t>
            </a:r>
            <a:endParaRPr lang="en-IN" dirty="0"/>
          </a:p>
        </p:txBody>
      </p:sp>
      <p:pic>
        <p:nvPicPr>
          <p:cNvPr id="6" name="Content Placeholder 5">
            <a:extLst>
              <a:ext uri="{FF2B5EF4-FFF2-40B4-BE49-F238E27FC236}">
                <a16:creationId xmlns:a16="http://schemas.microsoft.com/office/drawing/2014/main" id="{9A3ED9B2-9509-36F2-6E6D-27A013C7DF1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75486" y="1347537"/>
            <a:ext cx="10395697" cy="4771591"/>
          </a:xfrm>
          <a:prstGeom prst="rect">
            <a:avLst/>
          </a:prstGeom>
          <a:noFill/>
          <a:ln>
            <a:noFill/>
          </a:ln>
        </p:spPr>
      </p:pic>
    </p:spTree>
    <p:extLst>
      <p:ext uri="{BB962C8B-B14F-4D97-AF65-F5344CB8AC3E}">
        <p14:creationId xmlns:p14="http://schemas.microsoft.com/office/powerpoint/2010/main" val="624825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82E74-C68D-5007-4E97-93B4FF6A717B}"/>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8A6F5602-045E-2981-8A48-75F56F5D103C}"/>
              </a:ext>
            </a:extLst>
          </p:cNvPr>
          <p:cNvSpPr>
            <a:spLocks noGrp="1"/>
          </p:cNvSpPr>
          <p:nvPr>
            <p:ph idx="1"/>
          </p:nvPr>
        </p:nvSpPr>
        <p:spPr>
          <a:xfrm>
            <a:off x="838199" y="1825625"/>
            <a:ext cx="11010499" cy="4351338"/>
          </a:xfrm>
        </p:spPr>
        <p:txBody>
          <a:bodyPr>
            <a:normAutofit/>
          </a:bodyPr>
          <a:lstStyle/>
          <a:p>
            <a:pPr marL="0" lvl="0" indent="0" algn="just">
              <a:lnSpc>
                <a:spcPct val="115000"/>
              </a:lnSpc>
              <a:spcAft>
                <a:spcPts val="800"/>
              </a:spcAft>
              <a:buNone/>
              <a:tabLst>
                <a:tab pos="457200" algn="l"/>
              </a:tabLst>
            </a:pPr>
            <a:r>
              <a:rPr lang="en-US" sz="2000" b="0" i="0" dirty="0">
                <a:solidFill>
                  <a:srgbClr val="404040"/>
                </a:solidFill>
                <a:effectLst/>
              </a:rPr>
              <a:t>In this study, we developed and evaluated three deep learning models—</a:t>
            </a:r>
            <a:r>
              <a:rPr lang="en-US" sz="2000" b="1" i="0" dirty="0">
                <a:solidFill>
                  <a:srgbClr val="404040"/>
                </a:solidFill>
                <a:effectLst/>
              </a:rPr>
              <a:t>Artificial Neural Network (ANN), 1D CNN, and U-Net</a:t>
            </a:r>
            <a:r>
              <a:rPr lang="en-US" sz="2000" b="0" i="0" dirty="0">
                <a:solidFill>
                  <a:srgbClr val="404040"/>
                </a:solidFill>
                <a:effectLst/>
              </a:rPr>
              <a:t>—for predicting Coronary Heart Disease (CHD) using the Framingham dataset. Among these models, the </a:t>
            </a:r>
            <a:r>
              <a:rPr lang="en-US" sz="2000" b="1" i="0" dirty="0">
                <a:solidFill>
                  <a:srgbClr val="404040"/>
                </a:solidFill>
                <a:effectLst/>
              </a:rPr>
              <a:t>ANN demonstrated the highest accuracy</a:t>
            </a:r>
            <a:r>
              <a:rPr lang="en-US" sz="2000" b="0" i="0" dirty="0">
                <a:solidFill>
                  <a:srgbClr val="404040"/>
                </a:solidFill>
                <a:effectLst/>
              </a:rPr>
              <a:t>, outperforming both the 1D CNN and U-Net in classifying individuals at risk of CHD. The superior performance of the ANN can be attributed to its ability to effectively capture complex, non-linear relationships within structured clinical data, such as age, cholesterol levels, and blood pressure.</a:t>
            </a:r>
            <a:endParaRPr lang="en-IN" sz="2000" dirty="0"/>
          </a:p>
        </p:txBody>
      </p:sp>
    </p:spTree>
    <p:extLst>
      <p:ext uri="{BB962C8B-B14F-4D97-AF65-F5344CB8AC3E}">
        <p14:creationId xmlns:p14="http://schemas.microsoft.com/office/powerpoint/2010/main" val="766031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76CD-6FB0-CAE2-E67A-890D7641741F}"/>
              </a:ext>
            </a:extLst>
          </p:cNvPr>
          <p:cNvSpPr>
            <a:spLocks noGrp="1"/>
          </p:cNvSpPr>
          <p:nvPr>
            <p:ph type="title"/>
          </p:nvPr>
        </p:nvSpPr>
        <p:spPr/>
        <p:txBody>
          <a:bodyPr/>
          <a:lstStyle/>
          <a:p>
            <a:r>
              <a:rPr lang="en-US" dirty="0"/>
              <a:t>Future Work</a:t>
            </a:r>
            <a:endParaRPr lang="en-IN" dirty="0"/>
          </a:p>
        </p:txBody>
      </p:sp>
      <p:sp>
        <p:nvSpPr>
          <p:cNvPr id="3" name="Content Placeholder 2">
            <a:extLst>
              <a:ext uri="{FF2B5EF4-FFF2-40B4-BE49-F238E27FC236}">
                <a16:creationId xmlns:a16="http://schemas.microsoft.com/office/drawing/2014/main" id="{5B421DD4-5D80-2F5D-6F45-4EE6B4A47AC7}"/>
              </a:ext>
            </a:extLst>
          </p:cNvPr>
          <p:cNvSpPr>
            <a:spLocks noGrp="1"/>
          </p:cNvSpPr>
          <p:nvPr>
            <p:ph idx="1"/>
          </p:nvPr>
        </p:nvSpPr>
        <p:spPr/>
        <p:txBody>
          <a:bodyPr/>
          <a:lstStyle/>
          <a:p>
            <a:pPr algn="just"/>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In future a web based system will be developed so that people from different parts of world can use it.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93734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C474A-553C-7C6C-42AC-BF1C33023DC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D61560B-C807-02DC-0950-C8AA6D393AF9}"/>
              </a:ext>
            </a:extLst>
          </p:cNvPr>
          <p:cNvSpPr>
            <a:spLocks noGrp="1"/>
          </p:cNvSpPr>
          <p:nvPr>
            <p:ph idx="1"/>
          </p:nvPr>
        </p:nvSpPr>
        <p:spPr/>
        <p:txBody>
          <a:bodyPr/>
          <a:lstStyle/>
          <a:p>
            <a:r>
              <a:rPr lang="en-US" dirty="0"/>
              <a:t>THANKS</a:t>
            </a:r>
            <a:endParaRPr lang="en-IN" dirty="0"/>
          </a:p>
        </p:txBody>
      </p:sp>
    </p:spTree>
    <p:extLst>
      <p:ext uri="{BB962C8B-B14F-4D97-AF65-F5344CB8AC3E}">
        <p14:creationId xmlns:p14="http://schemas.microsoft.com/office/powerpoint/2010/main" val="420796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TotalTime>
  <Words>1639</Words>
  <Application>Microsoft Office PowerPoint</Application>
  <PresentationFormat>Widescreen</PresentationFormat>
  <Paragraphs>159</Paragraphs>
  <Slides>28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Calibri Light</vt:lpstr>
      <vt:lpstr>Consolas</vt:lpstr>
      <vt:lpstr>DeepSeek-CJK-patch</vt:lpstr>
      <vt:lpstr>Symbol</vt:lpstr>
      <vt:lpstr>Times New Roman</vt:lpstr>
      <vt:lpstr>Office Theme</vt:lpstr>
      <vt:lpstr>Anticipating Coronary Heart Disease Risk using Deep Learning</vt:lpstr>
      <vt:lpstr>Abstract</vt:lpstr>
      <vt:lpstr>Objective</vt:lpstr>
      <vt:lpstr>Data Collection and Description</vt:lpstr>
      <vt:lpstr>Data Collection and Description</vt:lpstr>
      <vt:lpstr>Data Collection and Description</vt:lpstr>
      <vt:lpstr>Attribute Description</vt:lpstr>
      <vt:lpstr>Attribute Description</vt:lpstr>
      <vt:lpstr>Software Requirements</vt:lpstr>
      <vt:lpstr>System Architecture Diagram</vt:lpstr>
      <vt:lpstr>Data Preprocessing</vt:lpstr>
      <vt:lpstr>Exploratory Analysis</vt:lpstr>
      <vt:lpstr>Corelation Matrix</vt:lpstr>
      <vt:lpstr>No of people suffer from heart disease and not</vt:lpstr>
      <vt:lpstr>Pie Chart showning percentage of people with and wit out heart disease     </vt:lpstr>
      <vt:lpstr>Male and female with and with out disease</vt:lpstr>
      <vt:lpstr>Data splitting</vt:lpstr>
      <vt:lpstr>Algorithms used</vt:lpstr>
      <vt:lpstr>ANN</vt:lpstr>
      <vt:lpstr>CNN 1D</vt:lpstr>
      <vt:lpstr>UNET</vt:lpstr>
      <vt:lpstr>PowerPoint Presentation</vt:lpstr>
      <vt:lpstr>GUI Implementation</vt:lpstr>
      <vt:lpstr>GUI Implementation</vt:lpstr>
      <vt:lpstr>GUI</vt:lpstr>
      <vt:lpstr>Conclusion</vt:lpstr>
      <vt:lpstr>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Anticipating Coronary Heart Disease Risk with      Advanced Analytics</dc:title>
  <dc:creator>Ranjan Das</dc:creator>
  <cp:lastModifiedBy>Ranjan Das</cp:lastModifiedBy>
  <cp:revision>13</cp:revision>
  <dcterms:created xsi:type="dcterms:W3CDTF">2024-04-02T04:54:21Z</dcterms:created>
  <dcterms:modified xsi:type="dcterms:W3CDTF">2025-05-19T15:18:59Z</dcterms:modified>
</cp:coreProperties>
</file>